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6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https://seeklogo.com/images/B/bitsight-logo-C7CC6FE279-seeklogo.com.png (BitSight Logo)
- https://seeklogo.com/images/M/mhp-a-porsche-company-logo-61943BFF13-seeklogo.com.png (MHP Logo)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https://www.bitsight.com/security-ratings (Definition/Verwendungszweck von Bitsight Security Ratings)
- https://www.bitsight.com/products/third-party-risk-management (Third-Party Risk Management Positionierung)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https://www.bitsight.com/ (Produktpositionierung „cyber risk intelligence platform“)
- https://www.bitsight.com/security-ratings (Definition/Use-Cases der Bitsight Security Rating)
- https://help.bitsighttech.com/hc/en-us/articles/231352528-What-is-a-Bitsight-Security-Rating (Outside-in Ansatz – Knowledge Base)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3.png"/><Relationship Id="rId6" Type="http://schemas.openxmlformats.org/officeDocument/2006/relationships/image" Target="../media/image24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25.png"/><Relationship Id="rId10" Type="http://schemas.openxmlformats.org/officeDocument/2006/relationships/image" Target="../media/image26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in der Beschaffung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Rollen, Zuarbeit und Arbeitsleistung (Service-Betrieb mit MHP – Risikomanager)</a:t>
            </a:r>
            <a:endParaRPr lang="en-US" sz="1600" dirty="0"/>
          </a:p>
        </p:txBody>
      </p:sp>
      <p:pic>
        <p:nvPicPr>
          <p:cNvPr id="5" name="Image 0" descr="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91640"/>
            <a:ext cx="731520" cy="731520"/>
          </a:xfrm>
          <a:prstGeom prst="rect">
            <a:avLst/>
          </a:prstGeom>
        </p:spPr>
      </p:pic>
      <p:pic>
        <p:nvPicPr>
          <p:cNvPr id="6" name="Image 1" descr="/mnt/data/assets/mh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835" y="1664208"/>
            <a:ext cx="777240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2651760"/>
            <a:ext cx="11094415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868680" y="2907792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Cyber-Risiken in der Lieferkette messbar machen und in Beschaffungsprozesse integrieren – von der Vorauswahl bis zum laufenden Monitoring.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Januar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ZIELBILD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Wofür setzen wir BitSight in der Beschaffung ein?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39333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09728" cy="21031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90472"/>
            <a:ext cx="2387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Vorauswahl &amp; Onboarding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1965960"/>
            <a:ext cx="293613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Frühzeitige Indikatoren zur externen Sicherheitslage eines Lieferanten. Fokus auf kritische/IT-nahe Leistungen und Zeitgewinn vor Vertragsabschluss.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99178" y="1280160"/>
            <a:ext cx="339333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399178" y="1280160"/>
            <a:ext cx="109728" cy="21031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7778" y="1508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6418" y="1490472"/>
            <a:ext cx="2387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 Monitoring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27778" y="1965960"/>
            <a:ext cx="293613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 Überwachung eines definierten Lieferanten-Portfolios inkl. Trend und Priorisierung. Unterstützung von TPRM/ISMS-Governance.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49717" y="1280160"/>
            <a:ext cx="339333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249717" y="1280160"/>
            <a:ext cx="109728" cy="2103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8317" y="15087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26957" y="1490472"/>
            <a:ext cx="2387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 &amp; Reporting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78317" y="1965960"/>
            <a:ext cx="293613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 Kennzahlen für Management, Audits und Risikogremien: Abdeckung, SLA-Erfüllung, Risikotrends und Ausnahmen/Remediation-Status.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1109441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6"/>
          <p:cNvSpPr/>
          <p:nvPr/>
        </p:nvSpPr>
        <p:spPr>
          <a:xfrm>
            <a:off x="77724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Kernprinzip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77240" y="4297680"/>
            <a:ext cx="106372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liefert eine datengetriebene „Outside-in“-Sicht auf Cyber-Risiken. In der Beschaffung wird daraus ein operationalisierter Prozess: Screening → vertragliche Absicherung → kontinuierliche Kontrolle → Eskalation/Remediation.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19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– Kurzprofil (beschaffungsrelevant)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8978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liefert BitSight?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(Score) als objektiver, datengetriebener Indikator der extern sichtbaren Cyber-Sicherheitslage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Monitoring (Trends/Events) über die Zeit – nicht nur punktuelle Assessments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Third-Party-Transparenz: Portfolio-Sicht auf Lieferanten/Partner inkl. Priorisierung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für Governance &amp; Reporting (KPI/KRI) und für Eskalations- und Remediation-Prozesse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5303520"/>
            <a:ext cx="54406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143000" y="5440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 für die Beschaffung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5715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ersetzt keine Audits/Pen-Tests. Es ergänzt das ISMS um eine „Outside‑in“-Messgröße, die früh im Sourcing nutzbar ist und im Betrieb kontinuierlich wirkt.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1234440"/>
            <a:ext cx="501091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903720" y="1463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Praktische Sicht: Inputs → Entscheidungen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03720" y="1965960"/>
            <a:ext cx="4480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086600" y="20756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Signale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2313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Exposure, Konfiguration, kompromittierte Systeme, Observables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2697480"/>
            <a:ext cx="274320" cy="146304"/>
          </a:xfrm>
          <a:prstGeom prst="down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903720" y="2843784"/>
            <a:ext cx="4480560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086600" y="29535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Findings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31912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Score/Trend, Domains, Priorisierung, Evidenz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3575304"/>
            <a:ext cx="274320" cy="146304"/>
          </a:xfrm>
          <a:prstGeom prst="down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903720" y="3721608"/>
            <a:ext cx="4480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086600" y="383133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Beschaffungs-Trigger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Screening, Vertragsklauseln, SLA/Remediation, Freigaben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6840" y="4453128"/>
            <a:ext cx="274320" cy="146304"/>
          </a:xfrm>
          <a:prstGeom prst="down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6903720" y="4599432"/>
            <a:ext cx="4480560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086600" y="4709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4946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Monitoring, Eskalation, Reporting</a:t>
            </a:r>
            <a:endParaRPr lang="en-US" sz="1100" dirty="0"/>
          </a:p>
        </p:txBody>
      </p:sp>
      <p:pic>
        <p:nvPicPr>
          <p:cNvPr id="28" name="Image 0" descr="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5623560"/>
            <a:ext cx="548640" cy="5486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ZUSAMMENARBEIT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Service-Modell: Betrieb mit MHP (Risikomanager)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7150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im Zielbetrieb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109728" cy="12344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1031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848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2560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Integriert Security-Risiko in Sourcing/Vertrag. Hält Lieferantenstammdaten, Vertrags- und Eskalationspfade aktuell.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29184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822960" y="3291840"/>
            <a:ext cx="109728" cy="123444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5204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5021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InfoSec / GRC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51560" y="39776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Definiert Anforderungen/Schwellenwerte, bewertet Ausnahmen, entscheidet über Risiken und Freigaben bei kritischen Fällen.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" y="470916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822960" y="4709160"/>
            <a:ext cx="10972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" y="49377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9194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MHP Risikomanager (Service)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51560" y="53949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Operativer Programm- &amp; Tool-Betrieb: Monitoring, Triage, Lieferantenkommunikation, Remediation-Tracking und Reporting.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46520" y="1234440"/>
            <a:ext cx="519379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8"/>
          <p:cNvSpPr/>
          <p:nvPr/>
        </p:nvSpPr>
        <p:spPr>
          <a:xfrm>
            <a:off x="672084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Service-Bausteine (MHP)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720840" y="1920240"/>
            <a:ext cx="4645152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0"/>
          <p:cNvSpPr/>
          <p:nvPr/>
        </p:nvSpPr>
        <p:spPr>
          <a:xfrm>
            <a:off x="6903720" y="2029968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Lieferanten-Portfolio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903720" y="2267712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Tiering, Ownership, Ansprechpartner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720840" y="2679192"/>
            <a:ext cx="4645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3"/>
          <p:cNvSpPr/>
          <p:nvPr/>
        </p:nvSpPr>
        <p:spPr>
          <a:xfrm>
            <a:off x="6903720" y="2788920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Triage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903720" y="3026664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 von Findings, False-Positive-Handling, Priorisierung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720840" y="3438144"/>
            <a:ext cx="4645152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6"/>
          <p:cNvSpPr/>
          <p:nvPr/>
        </p:nvSpPr>
        <p:spPr>
          <a:xfrm>
            <a:off x="6903720" y="3547872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903720" y="3785616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Lieferantenansprache, Fristen, Evidenzanforderungen, Eskalation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720840" y="4197096"/>
            <a:ext cx="4645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29"/>
          <p:cNvSpPr/>
          <p:nvPr/>
        </p:nvSpPr>
        <p:spPr>
          <a:xfrm>
            <a:off x="6903720" y="4306824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Tracking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903720" y="4544568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Maßnahmenpläne, SLAs, Status, Nachweise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720840" y="4956048"/>
            <a:ext cx="4645152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2"/>
          <p:cNvSpPr/>
          <p:nvPr/>
        </p:nvSpPr>
        <p:spPr>
          <a:xfrm>
            <a:off x="6903720" y="5065776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Reporting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903720" y="5303520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KPI/KRI, Management- und Audit-Reports, Gremienvorlagen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720840" y="5715000"/>
            <a:ext cx="4645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5"/>
          <p:cNvSpPr/>
          <p:nvPr/>
        </p:nvSpPr>
        <p:spPr>
          <a:xfrm>
            <a:off x="6903720" y="5824728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903720" y="6062472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Schwellenwerte, Prozesse, Lessons Learned, Tool-Optimierung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3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der Beschaffung im BitSight-Prozess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0350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Kernaufgaben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55321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Einbettung von Cyber-Risikokriterien in Beschaffungsrichtlinien, Ausschreibungen und Entscheidungslogik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Vertragliche Absicherung: Security-Anforderungen, Audit-/Nachweisklauseln, SLA für Remediation, Eskalationsrechte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Lieferanten-Portfolio &amp; Kritikalität (Tiering): Priorisierung der zu monitorenden Anbieter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Schnittstelle zu Supplier Management: Ansprechpartner, Eskalationsketten, regelmäßige Reviews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 für Governance: Status/Abdeckung, Ausnahmebegründungen, Entscheidungsvorlagen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12280" y="1234440"/>
            <a:ext cx="482803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086600" y="1463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– wer macht was?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17830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A=Accountable, R=Responsible, C=Consulted, I=Informed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86600" y="2057400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15400" y="2057400"/>
            <a:ext cx="822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38360" y="2057400"/>
            <a:ext cx="822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InfoSec/GRC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61320" y="2057400"/>
            <a:ext cx="8686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MHP Risk Mgr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25603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Tiering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15400" y="25603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38360" y="25603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61320" y="256032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6600" y="306324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Onboarding-Trigger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15400" y="306324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38360" y="306324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61320" y="306324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356616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Schwellenwerte/Policy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15400" y="35661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38360" y="35661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61320" y="356616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406908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Triage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15400" y="406908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38360" y="406908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61320" y="406908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45720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Eskalation &amp; Entscheidung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15400" y="457200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38360" y="457200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61320" y="457200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86600" y="50749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 Gremien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15400" y="50749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38360" y="50749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61320" y="507492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ZUARBEIT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Zuarbeit seitens Beschaffung (Inputs)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14300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24712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Checkliste für Setup &amp; Betrieb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Stammdaten &amp; Scope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Lieferantenliste inkl. IDs (ERP/SRM), Domains/Legal Entity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Kritikalitäts-Tiering (z. B. IT-DL, Datenverarbeiter, OT-nahe Supplier)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Vertragstyp, Laufzeit, Renewal-Termine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Ansprechpartner &amp; Eskalationspfad
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1588" y="155448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&amp; Compliance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Security-Klauseln, Nachweise, Audit-/Assessments, Subdienstleister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Remediation-SLA und Vertragshebel (z. B. Preis-/Leistung, Kündigungsrechte)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Datenschutz-/IS-Anhänge (z. B. TOMs, AVV, ISO/SOC)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für Audit/Revision (Entscheidungslogik, Ausnahmen)
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Prozess-Trigger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Einsatzpunkte: Ausschreibung, Auswahl, Renewal, Major Change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Stop/Go-Regeln und Ausnahmeprozess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Kommunikationsvorlagen an Lieferanten (Requests, Eskalation)
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1588" y="411480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/ Supplier Management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Eskalation an Contract/Business Owner bei Schwellenwertverletzung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Teilnahme an Reviews (kritische Lieferanten, Ausnahmen, Trends)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 des Vendor-Inventars und Abgleich mit BitSight-Attribution
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Arbeitsleistung / Deliverables (mit MHP Risikomanager)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33237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332378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5819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18488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Setup &amp; Enablement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377440"/>
            <a:ext cx="2692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&amp; Scope (kritische Lieferanten, Domänen/Attribution, Tiering)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Policy/Schwellenwerte &amp; Ausnahmeprozess (Stop/Go, Remediation-Fristen)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Prozessdesign: Sourcing- und Renewal-Integration, Rollen/RACI, Templates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Tool-Setup (Accounts, Rollen, Dashboards, Portfolio-Struktur)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29658" y="1417320"/>
            <a:ext cx="333237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429658" y="1417320"/>
            <a:ext cx="3332378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8258" y="158191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5458" y="1618488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Operativer Betrieb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49698" y="2377440"/>
            <a:ext cx="2692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Monitoring &amp; Ereignis-Triage (Priorisierung, Validierung)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Lieferantenkommunikation und Koordination der Nachweise/Remediation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Ticketing/Tracking, SLA-Überwachung, Eskalationsmanagement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Qualitätssicherung: False Positives, Attribution-Korrekturen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10677" y="1417320"/>
            <a:ext cx="333237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310677" y="1417320"/>
            <a:ext cx="3332378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9277" y="158191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6477" y="1618488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Governance &amp; Improvement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30717" y="2377440"/>
            <a:ext cx="2692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Regelberichte (KPI/KRI) für Beschaffung/InfoSec/Management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kritischer Lieferanten inkl. Maßnahmen- und Risikoentscheidungen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Optimierung Schwellenwerte/Portfolio, Lessons Learned, Audit-Unterstützung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 (mehr Supplier, mehr Regionen, Integration weiterer Quellen)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045610" y="3611880"/>
            <a:ext cx="228600" cy="32004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7926629" y="3611880"/>
            <a:ext cx="228600" cy="32004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1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Prozessübersicht: Sourcing → Vertrag → Betrieb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44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567129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32688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Bedarf &amp; Tiering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Kritikalität, Daten/IT-Nähe, Scope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Beschaffung + InfoSec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17521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2618689" y="1828800"/>
            <a:ext cx="156712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728417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21609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01569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Rating / erste Findings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01569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MHP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13250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414418" y="1828800"/>
            <a:ext cx="1567129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524146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7338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Sourcing-Entscheidung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7298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Stop/Go, Ausnahmen, Maßnahmenplan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97298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InfoSec + Beschaffung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08980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210148" y="1828800"/>
            <a:ext cx="156712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319876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3068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 &amp; SLA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3028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Klauseln, Remediation-Fristen, Nachweise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93028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Beschaffung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04709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8005877" y="1828800"/>
            <a:ext cx="1567129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8115605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8797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8757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ins Monitoring-Portfolio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88757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MHP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600438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9801606" y="1828800"/>
            <a:ext cx="156712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9911334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304526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Eskalation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984486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Tickets, Eskalation, Review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84486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MHP + InfoSec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2960" y="4160520"/>
            <a:ext cx="10545775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109728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Eskalationslogik (Beispiel)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97280" y="4663440"/>
            <a:ext cx="99971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Unterschreitung Schwellenwert → Ticket/Anfrage an Lieferant (MHP) → Frist &amp; Maßnahmenplan → Eskalation an Contract Owner/Beschaffung → Risikoentscheidung (InfoSec) → Maßnahmen/Vertragshebel.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KPIs (Beispiele)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09728" cy="21031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2763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Abdeckung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% kritischer Lieferanten im Monitoring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 Lieferanten nach Tier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Portfolio-Drift (Neu/Offboarding)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24448" y="141732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6324448" y="1417320"/>
            <a:ext cx="109728" cy="21031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3048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01688" y="162763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Risikoprofil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53048" y="210312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Score-Verteilung (A/B/C)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(30/90 Tage)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Top-Risiko-Domänen/Findings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109728" cy="2103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4069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405079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Wirksamkeit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77240" y="452628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Time-to-Remediate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SLA-Erfüllungsquote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 Eskalationen / Ausnahmen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24448" y="384048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6324448" y="3840480"/>
            <a:ext cx="109728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3048" y="40690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01688" y="405079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Outcomes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53048" y="452628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Renewal-Entscheidungen mit Risikobeitrag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Vertragliche Nachweise (Quote)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Lieferanten mit Maßnahmenplan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(Vorschlag): Monatlich Operativer Review (MHP + InfoSec). Quartalsweise Management-Report &amp; kritische Lieferanten. Ad hoc Eskalation bei Schwellenwertverletzung.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 / Entscheidungsbedarf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1045433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97280" y="17282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Scope festlegen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02082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Lieferanten (Tier 1/2), welche Gesellschaften/Regionen, welche Domains/Attribution?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468880"/>
            <a:ext cx="1045433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097280" y="25968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Policy &amp; Schwellenwerte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8950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Stop/Go-Kriterien im Sourcing, Remediation-Fristen, Ausnahmeprozess und Entscheidungsgremium.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337560"/>
            <a:ext cx="1045433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097280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Contracting-Paket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75818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Standardklauseln, SLA-Mechanik, Kommunikationspaket an Lieferanten, Dokumentationsanforderungen.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206240"/>
            <a:ext cx="1045433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97280" y="4334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Operating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62686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finalisieren, Ticket-/Eskalationspfad, Reporting-Cadence, Übergabe an MHP Risikomanager.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5074920"/>
            <a:ext cx="1045433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097280" y="5202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Pilot &amp; Skalierung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49554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mit ausgewähltem Portfolio, Lessons Learned, Rollout auf weitere Supplier/Warengruppen.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Breitbild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Norman Weferling</cp:lastModifiedBy>
  <cp:revision>1</cp:revision>
  <dcterms:created xsi:type="dcterms:W3CDTF">2026-01-19T13:03:46Z</dcterms:created>
  <dcterms:modified xsi:type="dcterms:W3CDTF">2026-01-20T10:32:45Z</dcterms:modified>
</cp:coreProperties>
</file>