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66" r:id="rId17"/>
    <p:sldId id="267" r:id="rId18"/>
    <p:sldId id="268" r:id="rId19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9" r:id="rId20"/>
    <p:sldId id="270" r:id="rId21"/>
    <p:sldId id="265" r:id="rId11"/>
    <p:sldId id="271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114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318631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https://seeklogo.com/images/B/bitsight-logo-C7CC6FE279-seeklogo.com.png (BitSight Logo)
- https://seeklogo.com/images/M/mhp-a-porsche-company-logo-61943BFF13-seeklogo.com.png (MHP Logo)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https://www.bitsight.com/security-ratings (Definition/Verwendungszweck von Bitsight Security Ratings)
- https://www.bitsight.com/products/third-party-risk-management (Third-Party Risk Management Positionierung)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https://www.bitsight.com/ (Produktpositionierung „cyber risk intelligence platform“)
- https://www.bitsight.com/security-ratings (Definition/Use-Cases der Bitsight Security Rating)
- https://help.bitsighttech.com/hc/en-us/articles/231352528-What-is-a-Bitsight-Security-Rating (Outside-in Ansatz – Knowledge Base)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image" Target="../media/image5.png"/><Relationship Id="rId6" Type="http://schemas.openxmlformats.org/officeDocument/2006/relationships/image" Target="../media/image6.svg"/><Relationship Id="rId7" Type="http://schemas.openxmlformats.org/officeDocument/2006/relationships/image" Target="../media/image7.png"/><Relationship Id="rId8" Type="http://schemas.openxmlformats.org/officeDocument/2006/relationships/image" Target="../media/image8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10.svg"/><Relationship Id="rId5" Type="http://schemas.openxmlformats.org/officeDocument/2006/relationships/image" Target="../media/image11.png"/><Relationship Id="rId6" Type="http://schemas.openxmlformats.org/officeDocument/2006/relationships/image" Target="../media/image12.svg"/><Relationship Id="rId7" Type="http://schemas.openxmlformats.org/officeDocument/2006/relationships/image" Target="../media/image13.png"/><Relationship Id="rId8" Type="http://schemas.openxmlformats.org/officeDocument/2006/relationships/image" Target="../media/image14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Relationship Id="rId4" Type="http://schemas.openxmlformats.org/officeDocument/2006/relationships/image" Target="../media/image16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Relationship Id="rId4" Type="http://schemas.openxmlformats.org/officeDocument/2006/relationships/image" Target="../media/image18.svg"/><Relationship Id="rId5" Type="http://schemas.openxmlformats.org/officeDocument/2006/relationships/image" Target="../media/image19.png"/><Relationship Id="rId6" Type="http://schemas.openxmlformats.org/officeDocument/2006/relationships/image" Target="../media/image20.svg"/><Relationship Id="rId7" Type="http://schemas.openxmlformats.org/officeDocument/2006/relationships/image" Target="../media/image7.png"/><Relationship Id="rId8" Type="http://schemas.openxmlformats.org/officeDocument/2006/relationships/image" Target="../media/image8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1.png"/><Relationship Id="rId4" Type="http://schemas.openxmlformats.org/officeDocument/2006/relationships/image" Target="../media/image22.svg"/><Relationship Id="rId5" Type="http://schemas.openxmlformats.org/officeDocument/2006/relationships/image" Target="../media/image23.png"/><Relationship Id="rId6" Type="http://schemas.openxmlformats.org/officeDocument/2006/relationships/image" Target="../media/image24.svg"/><Relationship Id="rId7" Type="http://schemas.openxmlformats.org/officeDocument/2006/relationships/image" Target="../media/image7.png"/><Relationship Id="rId8" Type="http://schemas.openxmlformats.org/officeDocument/2006/relationships/image" Target="../media/image8.svg"/><Relationship Id="rId9" Type="http://schemas.openxmlformats.org/officeDocument/2006/relationships/image" Target="../media/image25.png"/><Relationship Id="rId10" Type="http://schemas.openxmlformats.org/officeDocument/2006/relationships/image" Target="../media/image26.sv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BitSight in der Beschaffung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115568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Rollen, Zuarbeit und Arbeitsleistung (Service-Betrieb mit MHP – Risikomanager)</a:t>
            </a:r>
            <a:endParaRPr lang="en-US" sz="1600" dirty="0"/>
          </a:p>
        </p:txBody>
      </p:sp>
      <p:pic>
        <p:nvPicPr>
          <p:cNvPr id="5" name="Image 0" descr="/mnt/data/assets/bits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1691640"/>
            <a:ext cx="731520" cy="731520"/>
          </a:xfrm>
          <a:prstGeom prst="rect">
            <a:avLst/>
          </a:prstGeom>
        </p:spPr>
      </p:pic>
      <p:pic>
        <p:nvPicPr>
          <p:cNvPr id="6" name="Image 1" descr="/mnt/data/assets/mh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82835" y="1664208"/>
            <a:ext cx="777240" cy="7772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2651760"/>
            <a:ext cx="11094415" cy="12344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Text 4"/>
          <p:cNvSpPr/>
          <p:nvPr/>
        </p:nvSpPr>
        <p:spPr>
          <a:xfrm>
            <a:off x="868680" y="2907792"/>
            <a:ext cx="1045433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Ziel: Cyber-Risiken in der Lieferkette messbar machen und in Beschaffungsprozesse integrieren – von der Vorauswahl bis zum laufenden Monitoring.</a:t>
            </a:r>
            <a:endParaRPr lang="en-US" sz="1800" dirty="0"/>
          </a:p>
        </p:txBody>
      </p:sp>
      <p:sp>
        <p:nvSpPr>
          <p:cNvPr id="9" name="Shape 5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6"/>
          <p:cNvSpPr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Stand: Januar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9A7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ZIELBILD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Wofür setzen wir BitSight in der Beschaffung ein?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3393338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109728" cy="2103120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7240" y="150876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1490472"/>
            <a:ext cx="238749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Vorauswahl &amp; Onboarding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77240" y="1965960"/>
            <a:ext cx="2936138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Frühzeitige Indikatoren zur externen Sicherheitslage eines Lieferanten. Fokus auf kritische/IT-nahe Leistungen und Zeitgewinn vor Vertragsabschluss.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99178" y="1280160"/>
            <a:ext cx="3393338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1" name="Shape 8"/>
          <p:cNvSpPr/>
          <p:nvPr/>
        </p:nvSpPr>
        <p:spPr>
          <a:xfrm>
            <a:off x="4399178" y="1280160"/>
            <a:ext cx="109728" cy="2103120"/>
          </a:xfrm>
          <a:prstGeom prst="rect">
            <a:avLst/>
          </a:prstGeom>
          <a:solidFill>
            <a:srgbClr val="19A7CE"/>
          </a:solidFill>
          <a:ln w="12700">
            <a:solidFill>
              <a:srgbClr val="19A7C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27778" y="150876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176418" y="1490472"/>
            <a:ext cx="238749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Risk Monitoring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627778" y="1965960"/>
            <a:ext cx="2936138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Kontinuierliche Überwachung eines definierten Lieferanten-Portfolios inkl. Trend und Priorisierung. Unterstützung von TPRM/ISMS-Governance.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249717" y="1280160"/>
            <a:ext cx="3393338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6" name="Shape 12"/>
          <p:cNvSpPr/>
          <p:nvPr/>
        </p:nvSpPr>
        <p:spPr>
          <a:xfrm>
            <a:off x="8249717" y="1280160"/>
            <a:ext cx="109728" cy="21031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78317" y="1508760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026957" y="1490472"/>
            <a:ext cx="238749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Steuerung &amp; Reporting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478317" y="1965960"/>
            <a:ext cx="2936138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Transparente Kennzahlen für Management, Audits und Risikogremien: Abdeckung, SLA-Erfüllung, Risikotrends und Ausnahmen/Remediation-Status.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548640" y="3840480"/>
            <a:ext cx="11094415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Text 16"/>
          <p:cNvSpPr/>
          <p:nvPr/>
        </p:nvSpPr>
        <p:spPr>
          <a:xfrm>
            <a:off x="777240" y="3977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Kernprinzip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777240" y="4297680"/>
            <a:ext cx="1063721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BitSight liefert eine datengetriebene „Outside-in“-Sicht auf Cyber-Risiken. In der Beschaffung wird daraus ein operationalisierter Prozess: Screening → vertragliche Absicherung → kontinuierliche Kontrolle → Eskalation/Remediation.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4" name="Text 19"/>
          <p:cNvSpPr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Überblick | BitSight + MHP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9A7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LÖSUNG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BitSight – Kurzprofil (beschaffungsrelevant)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5897880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822960" y="1463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liefert BitSight?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1874520"/>
            <a:ext cx="54864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Rating (Score) als objektiver, datengetriebener Indikator der extern sichtbaren Cyber-Sicherheitslage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Kontinuierliches Monitoring (Trends/Events) über die Zeit – nicht nur punktuelle Assessments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Third-Party-Transparenz: Portfolio-Sicht auf Lieferanten/Partner inkl. Priorisierung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Grundlage für Governance &amp; Reporting (KPI/KRI) und für Eskalations- und Remediation-Prozesse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14400" y="5303520"/>
            <a:ext cx="5440680" cy="960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1143000" y="54406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Wichtig für die Beschaffung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43000" y="571500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BitSight ersetzt keine Audits/Pen-Tests. Es ergänzt das ISMS um eine „Outside‑in“-Messgröße, die früh im Sourcing nutzbar ist und im Betrieb kontinuierlich wirkt.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629400" y="1234440"/>
            <a:ext cx="5010912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6903720" y="146304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Praktische Sicht: Inputs → Entscheidungen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903720" y="1965960"/>
            <a:ext cx="448056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7086600" y="2075688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Externe Signale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086600" y="231343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Exposure, Konfiguration, kompromittierte Systeme, Observables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006840" y="2697480"/>
            <a:ext cx="274320" cy="146304"/>
          </a:xfrm>
          <a:prstGeom prst="downArrow">
            <a:avLst/>
          </a:prstGeom>
          <a:solidFill>
            <a:srgbClr val="19A7CE"/>
          </a:solidFill>
          <a:ln w="12700">
            <a:solidFill>
              <a:srgbClr val="19A7C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Shape 15"/>
          <p:cNvSpPr/>
          <p:nvPr/>
        </p:nvSpPr>
        <p:spPr>
          <a:xfrm>
            <a:off x="6903720" y="2843784"/>
            <a:ext cx="4480560" cy="71323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7086600" y="2953512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&amp; Findings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086600" y="319125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Score/Trend, Domains, Priorisierung, Evidenz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006840" y="3575304"/>
            <a:ext cx="274320" cy="146304"/>
          </a:xfrm>
          <a:prstGeom prst="downArrow">
            <a:avLst/>
          </a:prstGeom>
          <a:solidFill>
            <a:srgbClr val="19A7CE"/>
          </a:solidFill>
          <a:ln w="12700">
            <a:solidFill>
              <a:srgbClr val="19A7C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Shape 19"/>
          <p:cNvSpPr/>
          <p:nvPr/>
        </p:nvSpPr>
        <p:spPr>
          <a:xfrm>
            <a:off x="6903720" y="3721608"/>
            <a:ext cx="448056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2" name="Text 20"/>
          <p:cNvSpPr/>
          <p:nvPr/>
        </p:nvSpPr>
        <p:spPr>
          <a:xfrm>
            <a:off x="7086600" y="3831336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Beschaffungs-Trigger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086600" y="40690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Screening, Vertragsklauseln, SLA/Remediation, Freigaben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006840" y="4453128"/>
            <a:ext cx="274320" cy="146304"/>
          </a:xfrm>
          <a:prstGeom prst="downArrow">
            <a:avLst/>
          </a:prstGeom>
          <a:solidFill>
            <a:srgbClr val="19A7CE"/>
          </a:solidFill>
          <a:ln w="12700">
            <a:solidFill>
              <a:srgbClr val="19A7C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5" name="Shape 23"/>
          <p:cNvSpPr/>
          <p:nvPr/>
        </p:nvSpPr>
        <p:spPr>
          <a:xfrm>
            <a:off x="6903720" y="4599432"/>
            <a:ext cx="4480560" cy="71323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6" name="Text 24"/>
          <p:cNvSpPr/>
          <p:nvPr/>
        </p:nvSpPr>
        <p:spPr>
          <a:xfrm>
            <a:off x="7086600" y="470916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Betrieb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086600" y="494690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Kontinuierliches Monitoring, Eskalation, Reporting</a:t>
            </a:r>
            <a:endParaRPr lang="en-US" sz="1100" dirty="0"/>
          </a:p>
        </p:txBody>
      </p:sp>
      <p:pic>
        <p:nvPicPr>
          <p:cNvPr id="28" name="Image 0" descr="/mnt/data/assets/bits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5623560"/>
            <a:ext cx="548640" cy="548640"/>
          </a:xfrm>
          <a:prstGeom prst="rect">
            <a:avLst/>
          </a:prstGeom>
        </p:spPr>
      </p:pic>
      <p:sp>
        <p:nvSpPr>
          <p:cNvPr id="29" name="Shape 26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0" name="Text 27"/>
          <p:cNvSpPr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Überblick | BitSight + MHP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9A7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ZUSAMMENARBEIT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Service-Modell: Betrieb mit MHP (Risikomanager)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5715000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822960" y="146304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Rollen im Zielbetrieb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1874520"/>
            <a:ext cx="54406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8" name="Shape 6"/>
          <p:cNvSpPr/>
          <p:nvPr/>
        </p:nvSpPr>
        <p:spPr>
          <a:xfrm>
            <a:off x="822960" y="1874520"/>
            <a:ext cx="109728" cy="1234440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1560" y="2103120"/>
            <a:ext cx="411480" cy="4114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00200" y="2084832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Beschaffung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51560" y="2560320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Integriert Security-Risiko in Sourcing/Vertrag. Hält Lieferantenstammdaten, Vertrags- und Eskalationspfade aktuell.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22960" y="3291840"/>
            <a:ext cx="54406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3" name="Shape 10"/>
          <p:cNvSpPr/>
          <p:nvPr/>
        </p:nvSpPr>
        <p:spPr>
          <a:xfrm>
            <a:off x="822960" y="3291840"/>
            <a:ext cx="109728" cy="1234440"/>
          </a:xfrm>
          <a:prstGeom prst="rect">
            <a:avLst/>
          </a:prstGeom>
          <a:solidFill>
            <a:srgbClr val="19A7CE"/>
          </a:solidFill>
          <a:ln w="12700">
            <a:solidFill>
              <a:srgbClr val="19A7C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51560" y="3520440"/>
            <a:ext cx="411480" cy="4114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600200" y="3502152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InfoSec / GRC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1051560" y="3977640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Definiert Anforderungen/Schwellenwerte, bewertet Ausnahmen, entscheidet über Risiken und Freigaben bei kritischen Fällen.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822960" y="4709160"/>
            <a:ext cx="54406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8" name="Shape 14"/>
          <p:cNvSpPr/>
          <p:nvPr/>
        </p:nvSpPr>
        <p:spPr>
          <a:xfrm>
            <a:off x="822960" y="4709160"/>
            <a:ext cx="109728" cy="12344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51560" y="4937760"/>
            <a:ext cx="411480" cy="4114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00200" y="4919472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MHP Risikomanager (Service)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1051560" y="5394960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Operativer Programm- &amp; Tool-Betrieb: Monitoring, Triage, Lieferantenkommunikation, Remediation-Tracking und Reporting.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6446520" y="1234440"/>
            <a:ext cx="5193792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3" name="Text 18"/>
          <p:cNvSpPr/>
          <p:nvPr/>
        </p:nvSpPr>
        <p:spPr>
          <a:xfrm>
            <a:off x="6720840" y="14630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Typische Service-Bausteine (MHP)</a:t>
            </a:r>
            <a:endParaRPr lang="en-US" sz="1600" dirty="0"/>
          </a:p>
        </p:txBody>
      </p:sp>
      <p:sp>
        <p:nvSpPr>
          <p:cNvPr id="24" name="Shape 19"/>
          <p:cNvSpPr/>
          <p:nvPr/>
        </p:nvSpPr>
        <p:spPr>
          <a:xfrm>
            <a:off x="6720840" y="1920240"/>
            <a:ext cx="4645152" cy="65836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5" name="Text 20"/>
          <p:cNvSpPr/>
          <p:nvPr/>
        </p:nvSpPr>
        <p:spPr>
          <a:xfrm>
            <a:off x="6903720" y="2029968"/>
            <a:ext cx="42793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Lieferanten-Portfolio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6903720" y="2267712"/>
            <a:ext cx="42793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Scope, Tiering, Ownership, Ansprechpartner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6720840" y="2679192"/>
            <a:ext cx="4645152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8" name="Text 23"/>
          <p:cNvSpPr/>
          <p:nvPr/>
        </p:nvSpPr>
        <p:spPr>
          <a:xfrm>
            <a:off x="6903720" y="2788920"/>
            <a:ext cx="42793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Triage</a:t>
            </a:r>
            <a:endParaRPr lang="en-US" sz="1200" dirty="0"/>
          </a:p>
        </p:txBody>
      </p:sp>
      <p:sp>
        <p:nvSpPr>
          <p:cNvPr id="29" name="Text 24"/>
          <p:cNvSpPr/>
          <p:nvPr/>
        </p:nvSpPr>
        <p:spPr>
          <a:xfrm>
            <a:off x="6903720" y="3026664"/>
            <a:ext cx="42793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Bewertung von Findings, False-Positive-Handling, Priorisierung</a:t>
            </a:r>
            <a:endParaRPr lang="en-US" sz="1100" dirty="0"/>
          </a:p>
        </p:txBody>
      </p:sp>
      <p:sp>
        <p:nvSpPr>
          <p:cNvPr id="30" name="Shape 25"/>
          <p:cNvSpPr/>
          <p:nvPr/>
        </p:nvSpPr>
        <p:spPr>
          <a:xfrm>
            <a:off x="6720840" y="3438144"/>
            <a:ext cx="4645152" cy="65836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1" name="Text 26"/>
          <p:cNvSpPr/>
          <p:nvPr/>
        </p:nvSpPr>
        <p:spPr>
          <a:xfrm>
            <a:off x="6903720" y="3547872"/>
            <a:ext cx="42793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Kommunikation</a:t>
            </a:r>
            <a:endParaRPr lang="en-US" sz="1200" dirty="0"/>
          </a:p>
        </p:txBody>
      </p:sp>
      <p:sp>
        <p:nvSpPr>
          <p:cNvPr id="32" name="Text 27"/>
          <p:cNvSpPr/>
          <p:nvPr/>
        </p:nvSpPr>
        <p:spPr>
          <a:xfrm>
            <a:off x="6903720" y="3785616"/>
            <a:ext cx="42793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Lieferantenansprache, Fristen, Evidenzanforderungen, Eskalation</a:t>
            </a:r>
            <a:endParaRPr lang="en-US" sz="1100" dirty="0"/>
          </a:p>
        </p:txBody>
      </p:sp>
      <p:sp>
        <p:nvSpPr>
          <p:cNvPr id="33" name="Shape 28"/>
          <p:cNvSpPr/>
          <p:nvPr/>
        </p:nvSpPr>
        <p:spPr>
          <a:xfrm>
            <a:off x="6720840" y="4197096"/>
            <a:ext cx="4645152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4" name="Text 29"/>
          <p:cNvSpPr/>
          <p:nvPr/>
        </p:nvSpPr>
        <p:spPr>
          <a:xfrm>
            <a:off x="6903720" y="4306824"/>
            <a:ext cx="42793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 Tracking</a:t>
            </a:r>
            <a:endParaRPr lang="en-US" sz="1200" dirty="0"/>
          </a:p>
        </p:txBody>
      </p:sp>
      <p:sp>
        <p:nvSpPr>
          <p:cNvPr id="35" name="Text 30"/>
          <p:cNvSpPr/>
          <p:nvPr/>
        </p:nvSpPr>
        <p:spPr>
          <a:xfrm>
            <a:off x="6903720" y="4544568"/>
            <a:ext cx="42793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Maßnahmenpläne, SLAs, Status, Nachweise</a:t>
            </a:r>
            <a:endParaRPr lang="en-US" sz="1100" dirty="0"/>
          </a:p>
        </p:txBody>
      </p:sp>
      <p:sp>
        <p:nvSpPr>
          <p:cNvPr id="36" name="Shape 31"/>
          <p:cNvSpPr/>
          <p:nvPr/>
        </p:nvSpPr>
        <p:spPr>
          <a:xfrm>
            <a:off x="6720840" y="4956048"/>
            <a:ext cx="4645152" cy="65836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7" name="Text 32"/>
          <p:cNvSpPr/>
          <p:nvPr/>
        </p:nvSpPr>
        <p:spPr>
          <a:xfrm>
            <a:off x="6903720" y="5065776"/>
            <a:ext cx="42793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Reporting</a:t>
            </a:r>
            <a:endParaRPr lang="en-US" sz="1200" dirty="0"/>
          </a:p>
        </p:txBody>
      </p:sp>
      <p:sp>
        <p:nvSpPr>
          <p:cNvPr id="38" name="Text 33"/>
          <p:cNvSpPr/>
          <p:nvPr/>
        </p:nvSpPr>
        <p:spPr>
          <a:xfrm>
            <a:off x="6903720" y="5303520"/>
            <a:ext cx="42793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KPI/KRI, Management- und Audit-Reports, Gremienvorlagen</a:t>
            </a:r>
            <a:endParaRPr lang="en-US" sz="1100" dirty="0"/>
          </a:p>
        </p:txBody>
      </p:sp>
      <p:sp>
        <p:nvSpPr>
          <p:cNvPr id="39" name="Shape 34"/>
          <p:cNvSpPr/>
          <p:nvPr/>
        </p:nvSpPr>
        <p:spPr>
          <a:xfrm>
            <a:off x="6720840" y="5715000"/>
            <a:ext cx="4645152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0" name="Text 35"/>
          <p:cNvSpPr/>
          <p:nvPr/>
        </p:nvSpPr>
        <p:spPr>
          <a:xfrm>
            <a:off x="6903720" y="5824728"/>
            <a:ext cx="42793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Improvement</a:t>
            </a:r>
            <a:endParaRPr lang="en-US" sz="1200" dirty="0"/>
          </a:p>
        </p:txBody>
      </p:sp>
      <p:sp>
        <p:nvSpPr>
          <p:cNvPr id="41" name="Text 36"/>
          <p:cNvSpPr/>
          <p:nvPr/>
        </p:nvSpPr>
        <p:spPr>
          <a:xfrm>
            <a:off x="6903720" y="6062472"/>
            <a:ext cx="42793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Schwellenwerte, Prozesse, Lessons Learned, Tool-Optimierung</a:t>
            </a:r>
            <a:endParaRPr lang="en-US" sz="1100" dirty="0"/>
          </a:p>
        </p:txBody>
      </p:sp>
      <p:sp>
        <p:nvSpPr>
          <p:cNvPr id="42" name="Shape 37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3" name="Text 38"/>
          <p:cNvSpPr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Überblick | BitSight + MHP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9A7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BESCHAFFUNG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Rolle der Beschaffung im BitSight-Prozess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6035040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822960" y="1463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Kernaufgaben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1874520"/>
            <a:ext cx="5532120" cy="3611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Einbettung von Cyber-Risikokriterien in Beschaffungsrichtlinien, Ausschreibungen und Entscheidungslogik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Vertragliche Absicherung: Security-Anforderungen, Audit-/Nachweisklauseln, SLA für Remediation, Eskalationsrechte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Lieferanten-Portfolio &amp; Kritikalität (Tiering): Priorisierung der zu monitorenden Anbieter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Schnittstelle zu Supplier Management: Ansprechpartner, Eskalationsketten, regelmäßige Reviews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Transparenz für Governance: Status/Abdeckung, Ausnahmebegründungen, Entscheidungsvorlagen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12280" y="1234440"/>
            <a:ext cx="4828032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7086600" y="146304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RACI – wer macht was?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086600" y="1783080"/>
            <a:ext cx="4480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A=Accountable, R=Responsible, C=Consulted, I=Informed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086600" y="2057400"/>
            <a:ext cx="182880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txBody>
          <a:bodyPr wrap="square" lIns="0" tIns="1524" rIns="1524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Aktivität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915400" y="2057400"/>
            <a:ext cx="82296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Beschaffung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738360" y="2057400"/>
            <a:ext cx="82296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InfoSec/GRC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561320" y="2057400"/>
            <a:ext cx="86868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MHP Risk Mgr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086600" y="2560320"/>
            <a:ext cx="1828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0" tIns="1524" rIns="1524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&amp; Tiering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915400" y="2560320"/>
            <a:ext cx="8229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738360" y="2560320"/>
            <a:ext cx="8229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561320" y="2560320"/>
            <a:ext cx="8686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086600" y="3063240"/>
            <a:ext cx="1828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0" tIns="1524" rIns="1524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Onboarding-Trigger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915400" y="3063240"/>
            <a:ext cx="8229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738360" y="3063240"/>
            <a:ext cx="8229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561320" y="3063240"/>
            <a:ext cx="8686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086600" y="3566160"/>
            <a:ext cx="1828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0" tIns="1524" rIns="1524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Schwellenwerte/Policy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915400" y="3566160"/>
            <a:ext cx="8229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738360" y="3566160"/>
            <a:ext cx="8229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561320" y="3566160"/>
            <a:ext cx="8686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086600" y="4069080"/>
            <a:ext cx="1828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0" tIns="1524" rIns="1524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Triage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915400" y="4069080"/>
            <a:ext cx="8229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738360" y="4069080"/>
            <a:ext cx="8229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0561320" y="4069080"/>
            <a:ext cx="8686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A/R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086600" y="4572000"/>
            <a:ext cx="1828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0" tIns="1524" rIns="1524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Eskalation &amp; Entscheidung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915400" y="4572000"/>
            <a:ext cx="8229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738360" y="4572000"/>
            <a:ext cx="8229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A/R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0561320" y="4572000"/>
            <a:ext cx="8686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086600" y="5074920"/>
            <a:ext cx="1828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0" tIns="1524" rIns="1524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an Gremien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915400" y="5074920"/>
            <a:ext cx="8229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9738360" y="5074920"/>
            <a:ext cx="8229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0561320" y="5074920"/>
            <a:ext cx="8686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0" name="Text 38"/>
          <p:cNvSpPr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Überblick | BitSight + MHP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9A7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ZUARBEIT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Zuarbeit seitens Beschaffung (Inputs)</a:t>
            </a:r>
            <a:endParaRPr lang="en-US" sz="2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8640" y="1143000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1124712"/>
            <a:ext cx="107286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Checkliste für Setup &amp; Betrieb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1554480"/>
            <a:ext cx="5341468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Stammdaten &amp; Scope
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Lieferantenliste inkl. IDs (ERP/SRM), Domains/Legal Entity
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Kritikalitäts-Tiering (z. B. IT-DL, Datenverarbeiter, OT-nahe Supplier)
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Vertragstyp, Laufzeit, Renewal-Termine
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Ansprechpartner &amp; Eskalationspfad
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301588" y="1554480"/>
            <a:ext cx="5341468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Contracting &amp; Compliance
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Security-Klauseln, Nachweise, Audit-/Assessments, Subdienstleister
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Remediation-SLA und Vertragshebel (z. B. Preis-/Leistung, Kündigungsrechte)
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Datenschutz-/IS-Anhänge (z. B. TOMs, AVV, ISO/SOC)
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Dokumentation für Audit/Revision (Entscheidungslogik, Ausnahmen)
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" y="4114800"/>
            <a:ext cx="5341468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Prozess-Trigger
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Einsatzpunkte: Ausschreibung, Auswahl, Renewal, Major Change
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Stop/Go-Regeln und Ausnahmeprozess
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Kommunikationsvorlagen an Lieferanten (Requests, Eskalation)
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301588" y="4114800"/>
            <a:ext cx="5341468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Betrieb / Supplier Management
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Eskalation an Contract/Business Owner bei Schwellenwertverletzung
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Teilnahme an Reviews (kritische Lieferanten, Ausnahmen, Trends)
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Pflege des Vendor-Inventars und Abgleich mit BitSight-Attribution
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9"/>
          <p:cNvSpPr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Überblick | BitSight + MHP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9A7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LEISTUNG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Arbeitsleistung / Deliverables (mit MHP Risikomanager)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3332378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3332378" cy="7315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7240" y="1581912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1618488"/>
            <a:ext cx="241797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Setup &amp; Enablement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68680" y="2377440"/>
            <a:ext cx="2692298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Use-Case &amp; Scope (kritische Lieferanten, Domänen/Attribution, Tiering)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Policy/Schwellenwerte &amp; Ausnahmeprozess (Stop/Go, Remediation-Fristen)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Prozessdesign: Sourcing- und Renewal-Integration, Rollen/RACI, Templates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Tool-Setup (Accounts, Rollen, Dashboards, Portfolio-Struktur)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429658" y="1417320"/>
            <a:ext cx="3332378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1" name="Shape 8"/>
          <p:cNvSpPr/>
          <p:nvPr/>
        </p:nvSpPr>
        <p:spPr>
          <a:xfrm>
            <a:off x="4429658" y="1417320"/>
            <a:ext cx="3332378" cy="7315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58258" y="1581912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115458" y="1618488"/>
            <a:ext cx="241797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Operativer Betrieb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749698" y="2377440"/>
            <a:ext cx="2692298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Kontinuierliches Monitoring &amp; Ereignis-Triage (Priorisierung, Validierung)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Lieferantenkommunikation und Koordination der Nachweise/Remediation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Ticketing/Tracking, SLA-Überwachung, Eskalationsmanagement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Qualitätssicherung: False Positives, Attribution-Korrekturen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310677" y="1417320"/>
            <a:ext cx="3332378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6" name="Shape 12"/>
          <p:cNvSpPr/>
          <p:nvPr/>
        </p:nvSpPr>
        <p:spPr>
          <a:xfrm>
            <a:off x="8310677" y="1417320"/>
            <a:ext cx="3332378" cy="7315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39277" y="1581912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996477" y="1618488"/>
            <a:ext cx="241797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Governance &amp; Improvement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8630717" y="2377440"/>
            <a:ext cx="2692298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Regelberichte (KPI/KRI) für Beschaffung/InfoSec/Management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kritischer Lieferanten inkl. Maßnahmen- und Risikoentscheidungen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Optimierung Schwellenwerte/Portfolio, Lessons Learned, Audit-Unterstützung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Skalierung (mehr Supplier, mehr Regionen, Integration weiterer Quellen)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4045610" y="3611880"/>
            <a:ext cx="228600" cy="320040"/>
          </a:xfrm>
          <a:prstGeom prst="rightArrow">
            <a:avLst/>
          </a:prstGeom>
          <a:solidFill>
            <a:srgbClr val="19A7CE"/>
          </a:solidFill>
          <a:ln w="12700">
            <a:solidFill>
              <a:srgbClr val="19A7C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Shape 16"/>
          <p:cNvSpPr/>
          <p:nvPr/>
        </p:nvSpPr>
        <p:spPr>
          <a:xfrm>
            <a:off x="7926629" y="3611880"/>
            <a:ext cx="228600" cy="320040"/>
          </a:xfrm>
          <a:prstGeom prst="rightArrow">
            <a:avLst/>
          </a:prstGeom>
          <a:solidFill>
            <a:srgbClr val="19A7CE"/>
          </a:solidFill>
          <a:ln w="12700">
            <a:solidFill>
              <a:srgbClr val="19A7C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2" name="Shape 17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3" name="Text 18"/>
          <p:cNvSpPr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Überblick | BitSight + MHP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9A7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Prozessübersicht: Sourcing → Vertrag → Betrieb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94415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6" name="Shape 4"/>
          <p:cNvSpPr/>
          <p:nvPr/>
        </p:nvSpPr>
        <p:spPr>
          <a:xfrm>
            <a:off x="822960" y="1828800"/>
            <a:ext cx="1567129" cy="20574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932688" y="1965960"/>
            <a:ext cx="320040" cy="320040"/>
          </a:xfrm>
          <a:prstGeom prst="rect">
            <a:avLst/>
          </a:prstGeom>
          <a:solidFill>
            <a:srgbClr val="0B3D91"/>
          </a:solidFill>
          <a:ln>
            <a:solidFill>
              <a:srgbClr val="0B3D9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25880" y="1938528"/>
            <a:ext cx="92704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Bedarf &amp; Tiering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2377440"/>
            <a:ext cx="1201369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Kritikalität, Daten/IT-Nähe, Scope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05840" y="3246120"/>
            <a:ext cx="1201369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Beschaffung + InfoSec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17521" y="2743200"/>
            <a:ext cx="164592" cy="228600"/>
          </a:xfrm>
          <a:prstGeom prst="rightArrow">
            <a:avLst/>
          </a:prstGeom>
          <a:solidFill>
            <a:srgbClr val="19A7CE"/>
          </a:solidFill>
          <a:ln w="12700">
            <a:solidFill>
              <a:srgbClr val="19A7C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Shape 10"/>
          <p:cNvSpPr/>
          <p:nvPr/>
        </p:nvSpPr>
        <p:spPr>
          <a:xfrm>
            <a:off x="2618689" y="1828800"/>
            <a:ext cx="1567129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2728417" y="1965960"/>
            <a:ext cx="320040" cy="320040"/>
          </a:xfrm>
          <a:prstGeom prst="rect">
            <a:avLst/>
          </a:prstGeom>
          <a:solidFill>
            <a:srgbClr val="0B3D91"/>
          </a:solidFill>
          <a:ln>
            <a:solidFill>
              <a:srgbClr val="0B3D9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121609" y="1938528"/>
            <a:ext cx="92704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801569" y="2377440"/>
            <a:ext cx="1201369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BitSight Rating / erste Findings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801569" y="3246120"/>
            <a:ext cx="1201369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MHP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13250" y="2743200"/>
            <a:ext cx="164592" cy="228600"/>
          </a:xfrm>
          <a:prstGeom prst="rightArrow">
            <a:avLst/>
          </a:prstGeom>
          <a:solidFill>
            <a:srgbClr val="19A7CE"/>
          </a:solidFill>
          <a:ln w="12700">
            <a:solidFill>
              <a:srgbClr val="19A7C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Shape 16"/>
          <p:cNvSpPr/>
          <p:nvPr/>
        </p:nvSpPr>
        <p:spPr>
          <a:xfrm>
            <a:off x="4414418" y="1828800"/>
            <a:ext cx="1567129" cy="20574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Text 17"/>
          <p:cNvSpPr/>
          <p:nvPr/>
        </p:nvSpPr>
        <p:spPr>
          <a:xfrm>
            <a:off x="4524146" y="1965960"/>
            <a:ext cx="320040" cy="320040"/>
          </a:xfrm>
          <a:prstGeom prst="rect">
            <a:avLst/>
          </a:prstGeom>
          <a:solidFill>
            <a:srgbClr val="0B3D91"/>
          </a:solidFill>
          <a:ln>
            <a:solidFill>
              <a:srgbClr val="0B3D9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17338" y="1938528"/>
            <a:ext cx="92704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Sourcing-Entscheidung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97298" y="2377440"/>
            <a:ext cx="1201369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Stop/Go, Ausnahmen, Maßnahmenplan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97298" y="3246120"/>
            <a:ext cx="1201369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InfoSec + Beschaffung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008980" y="2743200"/>
            <a:ext cx="164592" cy="228600"/>
          </a:xfrm>
          <a:prstGeom prst="rightArrow">
            <a:avLst/>
          </a:prstGeom>
          <a:solidFill>
            <a:srgbClr val="19A7CE"/>
          </a:solidFill>
          <a:ln w="12700">
            <a:solidFill>
              <a:srgbClr val="19A7C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4" name="Shape 22"/>
          <p:cNvSpPr/>
          <p:nvPr/>
        </p:nvSpPr>
        <p:spPr>
          <a:xfrm>
            <a:off x="6210148" y="1828800"/>
            <a:ext cx="1567129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5" name="Text 23"/>
          <p:cNvSpPr/>
          <p:nvPr/>
        </p:nvSpPr>
        <p:spPr>
          <a:xfrm>
            <a:off x="6319876" y="1965960"/>
            <a:ext cx="320040" cy="320040"/>
          </a:xfrm>
          <a:prstGeom prst="rect">
            <a:avLst/>
          </a:prstGeom>
          <a:solidFill>
            <a:srgbClr val="0B3D91"/>
          </a:solidFill>
          <a:ln>
            <a:solidFill>
              <a:srgbClr val="0B3D9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713068" y="1938528"/>
            <a:ext cx="92704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Vertrag &amp; SLA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93028" y="2377440"/>
            <a:ext cx="1201369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Klauseln, Remediation-Fristen, Nachweise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393028" y="3246120"/>
            <a:ext cx="1201369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Beschaffung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804709" y="2743200"/>
            <a:ext cx="164592" cy="228600"/>
          </a:xfrm>
          <a:prstGeom prst="rightArrow">
            <a:avLst/>
          </a:prstGeom>
          <a:solidFill>
            <a:srgbClr val="19A7CE"/>
          </a:solidFill>
          <a:ln w="12700">
            <a:solidFill>
              <a:srgbClr val="19A7C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0" name="Shape 28"/>
          <p:cNvSpPr/>
          <p:nvPr/>
        </p:nvSpPr>
        <p:spPr>
          <a:xfrm>
            <a:off x="8005877" y="1828800"/>
            <a:ext cx="1567129" cy="20574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1" name="Text 29"/>
          <p:cNvSpPr/>
          <p:nvPr/>
        </p:nvSpPr>
        <p:spPr>
          <a:xfrm>
            <a:off x="8115605" y="1965960"/>
            <a:ext cx="320040" cy="320040"/>
          </a:xfrm>
          <a:prstGeom prst="rect">
            <a:avLst/>
          </a:prstGeom>
          <a:solidFill>
            <a:srgbClr val="0B3D91"/>
          </a:solidFill>
          <a:ln>
            <a:solidFill>
              <a:srgbClr val="0B3D9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508797" y="1938528"/>
            <a:ext cx="92704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Go-Live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188757" y="2377440"/>
            <a:ext cx="1201369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ins Monitoring-Portfolio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188757" y="3246120"/>
            <a:ext cx="1201369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MHP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9600438" y="2743200"/>
            <a:ext cx="164592" cy="228600"/>
          </a:xfrm>
          <a:prstGeom prst="rightArrow">
            <a:avLst/>
          </a:prstGeom>
          <a:solidFill>
            <a:srgbClr val="19A7CE"/>
          </a:solidFill>
          <a:ln w="12700">
            <a:solidFill>
              <a:srgbClr val="19A7C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6" name="Shape 34"/>
          <p:cNvSpPr/>
          <p:nvPr/>
        </p:nvSpPr>
        <p:spPr>
          <a:xfrm>
            <a:off x="9801606" y="1828800"/>
            <a:ext cx="1567129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7" name="Text 35"/>
          <p:cNvSpPr/>
          <p:nvPr/>
        </p:nvSpPr>
        <p:spPr>
          <a:xfrm>
            <a:off x="9911334" y="1965960"/>
            <a:ext cx="320040" cy="320040"/>
          </a:xfrm>
          <a:prstGeom prst="rect">
            <a:avLst/>
          </a:prstGeom>
          <a:solidFill>
            <a:srgbClr val="0B3D91"/>
          </a:solidFill>
          <a:ln>
            <a:solidFill>
              <a:srgbClr val="0B3D9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0304526" y="1938528"/>
            <a:ext cx="92704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Eskalation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9984486" y="2377440"/>
            <a:ext cx="1201369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Triage, Tickets, Eskalation, Review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9984486" y="3246120"/>
            <a:ext cx="1201369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MHP + InfoSec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822960" y="4160520"/>
            <a:ext cx="10545775" cy="14173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2" name="Text 40"/>
          <p:cNvSpPr/>
          <p:nvPr/>
        </p:nvSpPr>
        <p:spPr>
          <a:xfrm>
            <a:off x="1097280" y="4343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Eskalationslogik (Beispiel)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1097280" y="4663440"/>
            <a:ext cx="999713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Unterschreitung Schwellenwert → Ticket/Anfrage an Lieferant (MHP) → Frist &amp; Maßnahmenplan → Eskalation an Contract Owner/Beschaffung → Risikoentscheidung (InfoSec) → Maßnahmen/Vertragshebel.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5" name="Text 43"/>
          <p:cNvSpPr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Überblick | BitSight + MHP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9A7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STEUERUNG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KPIs (Beispiele)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5318608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109728" cy="2103120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7240" y="164592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1627632"/>
            <a:ext cx="431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Abdeckung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77240" y="2103120"/>
            <a:ext cx="4861408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% kritischer Lieferanten im Monitoring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# Lieferanten nach Tier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Portfolio-Drift (Neu/Offboarding)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324448" y="1417320"/>
            <a:ext cx="5318608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1" name="Shape 8"/>
          <p:cNvSpPr/>
          <p:nvPr/>
        </p:nvSpPr>
        <p:spPr>
          <a:xfrm>
            <a:off x="6324448" y="1417320"/>
            <a:ext cx="109728" cy="2103120"/>
          </a:xfrm>
          <a:prstGeom prst="rect">
            <a:avLst/>
          </a:prstGeom>
          <a:solidFill>
            <a:srgbClr val="19A7CE"/>
          </a:solidFill>
          <a:ln w="12700">
            <a:solidFill>
              <a:srgbClr val="19A7C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53048" y="164592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01688" y="1627632"/>
            <a:ext cx="431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Risikoprofil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553048" y="2103120"/>
            <a:ext cx="4861408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Score-Verteilung (A/B/C)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Trend (30/90 Tage)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Top-Risiko-Domänen/Findings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48640" y="3840480"/>
            <a:ext cx="5318608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6" name="Shape 12"/>
          <p:cNvSpPr/>
          <p:nvPr/>
        </p:nvSpPr>
        <p:spPr>
          <a:xfrm>
            <a:off x="548640" y="3840480"/>
            <a:ext cx="109728" cy="21031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7240" y="4069080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4050792"/>
            <a:ext cx="431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Wirksamkeit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777240" y="4526280"/>
            <a:ext cx="4861408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Time-to-Remediate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SLA-Erfüllungsquote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# Eskalationen / Ausnahmen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324448" y="3840480"/>
            <a:ext cx="5318608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1" name="Shape 16"/>
          <p:cNvSpPr/>
          <p:nvPr/>
        </p:nvSpPr>
        <p:spPr>
          <a:xfrm>
            <a:off x="6324448" y="3840480"/>
            <a:ext cx="109728" cy="21031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553048" y="4069080"/>
            <a:ext cx="411480" cy="4114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101688" y="4050792"/>
            <a:ext cx="431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Outcomes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6553048" y="4526280"/>
            <a:ext cx="4861408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Renewal-Entscheidungen mit Risikobeitrag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Vertragliche Nachweise (Quote)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Lieferanten mit Maßnahmenplan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548640" y="6053328"/>
            <a:ext cx="110944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Cadence (Vorschlag): Monatlich Operativer Review (MHP + InfoSec). Quartalsweise Management-Report &amp; kritische Lieferanten. Ad hoc Eskalation bei Schwellenwertverletzung.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7" name="Text 21"/>
          <p:cNvSpPr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Überblick | BitSight + MHP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9A7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UMSETZUNG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Nächste Schritte / Entscheidungsbedarf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94415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6" name="Shape 4"/>
          <p:cNvSpPr/>
          <p:nvPr/>
        </p:nvSpPr>
        <p:spPr>
          <a:xfrm>
            <a:off x="868680" y="1600200"/>
            <a:ext cx="10454335" cy="777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1097280" y="172821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Scope festlegen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2020824"/>
            <a:ext cx="9997135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Welche Lieferanten (Tier 1/2), welche Gesellschaften/Regionen, welche Domains/Attribution?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68680" y="2468880"/>
            <a:ext cx="10454335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1097280" y="259689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Policy &amp; Schwellenwerte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2889504"/>
            <a:ext cx="9997135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Stop/Go-Kriterien im Sourcing, Remediation-Fristen, Ausnahmeprozess und Entscheidungsgremium.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8680" y="3337560"/>
            <a:ext cx="10454335" cy="777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1097280" y="346557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Contracting-Paket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97280" y="3758184"/>
            <a:ext cx="9997135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Standardklauseln, SLA-Mechanik, Kommunikationspaket an Lieferanten, Dokumentationsanforderungen.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68680" y="4206240"/>
            <a:ext cx="10454335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1097280" y="433425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 Operating Model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97280" y="4626864"/>
            <a:ext cx="9997135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RACI finalisieren, Ticket-/Eskalationspfad, Reporting-Cadence, Übergabe an MHP Risikomanager.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68680" y="5074920"/>
            <a:ext cx="10454335" cy="777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Text 17"/>
          <p:cNvSpPr/>
          <p:nvPr/>
        </p:nvSpPr>
        <p:spPr>
          <a:xfrm>
            <a:off x="1097280" y="520293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5) Pilot &amp; Skalierung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97280" y="5495544"/>
            <a:ext cx="9997135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mit ausgewähltem Portfolio, Lessons Learned, Rollout auf weitere Supplier/Warengruppen.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2" name="Text 20"/>
          <p:cNvSpPr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Überblick | BitSight + MHP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el 1">
            <a:extLst>
              <a:ext uri="{FF2B5EF4-FFF2-40B4-BE49-F238E27FC236}">
                <a16:creationId xmlns:a16="http://schemas.microsoft.com/office/drawing/2014/main" id="{338FF061-ED5C-402C-8DA9-AAAF3E547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404813"/>
            <a:ext cx="10050812" cy="738664"/>
          </a:xfrm>
        </p:spPr>
        <p:txBody>
          <a:bodyPr/>
          <a:lstStyle/>
          <a:p>
            <a:r>
              <a:rPr lang="en-US" b="1" dirty="0">
                <a:solidFill>
                  <a:schemeClr val="bg1">
                    <a:lumMod val="85000"/>
                  </a:schemeClr>
                </a:solidFill>
              </a:rPr>
              <a:t>EXECUTIVE SUMMARY</a:t>
            </a:r>
            <a:br>
              <a:rPr lang="en-US" b="1" dirty="0">
                <a:solidFill>
                  <a:schemeClr val="bg1">
                    <a:lumMod val="85000"/>
                  </a:schemeClr>
                </a:solidFill>
              </a:rPr>
            </a:br>
            <a:endParaRPr lang="de-DE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4D0E007-AE45-481E-EE97-38C778720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7F064-BD39-4FE4-B9A2-7344DA85858F}" type="datetime1">
              <a:rPr lang="de-DE" smtClean="0"/>
              <a:pPr/>
              <a:t>29.01.2026</a:t>
            </a:fld>
            <a:endParaRPr lang="en-CA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DD9645E-ED7E-8CB7-E9FA-F79AAD2C2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EAD0B-53D4-4473-89A4-0C9AC72707FF}" type="slidenum">
              <a:rPr lang="en-CA" smtClean="0"/>
              <a:pPr/>
              <a:t>3</a:t>
            </a:fld>
            <a:endParaRPr lang="en-CA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84DCD3C-68F5-FC51-5DAE-2612675415B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/>
              <a:t>EXTERN</a:t>
            </a:r>
          </a:p>
        </p:txBody>
      </p:sp>
      <p:sp>
        <p:nvSpPr>
          <p:cNvPr id="6" name="Round Same Side Corner Rectangle 7">
            <a:extLst>
              <a:ext uri="{FF2B5EF4-FFF2-40B4-BE49-F238E27FC236}">
                <a16:creationId xmlns:a16="http://schemas.microsoft.com/office/drawing/2014/main" id="{31A63332-07BA-BC2A-867B-5CFBED58EC6D}"/>
              </a:ext>
            </a:extLst>
          </p:cNvPr>
          <p:cNvSpPr/>
          <p:nvPr/>
        </p:nvSpPr>
        <p:spPr>
          <a:xfrm rot="5400000">
            <a:off x="-3181147" y="-1849313"/>
            <a:ext cx="6858000" cy="10584873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82000">
                <a:schemeClr val="tx2">
                  <a:alpha val="0"/>
                </a:schemeClr>
              </a:gs>
              <a:gs pos="9000">
                <a:schemeClr val="accent2"/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20">
            <a:extLst>
              <a:ext uri="{FF2B5EF4-FFF2-40B4-BE49-F238E27FC236}">
                <a16:creationId xmlns:a16="http://schemas.microsoft.com/office/drawing/2014/main" id="{33F190C3-3BA7-E4B2-DF07-4AF27D82113A}"/>
              </a:ext>
            </a:extLst>
          </p:cNvPr>
          <p:cNvSpPr/>
          <p:nvPr/>
        </p:nvSpPr>
        <p:spPr>
          <a:xfrm>
            <a:off x="7446618" y="525593"/>
            <a:ext cx="2576528" cy="2477210"/>
          </a:xfrm>
          <a:prstGeom prst="ellipse">
            <a:avLst/>
          </a:prstGeom>
          <a:gradFill flip="none" rotWithShape="1">
            <a:gsLst>
              <a:gs pos="31000">
                <a:schemeClr val="accent1"/>
              </a:gs>
              <a:gs pos="67000">
                <a:schemeClr val="tx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28600" rtlCol="0" anchor="t" anchorCtr="0"/>
          <a:lstStyle/>
          <a:p>
            <a:pPr algn="ctr"/>
            <a:endParaRPr lang="en-US"/>
          </a:p>
        </p:txBody>
      </p:sp>
      <p:sp>
        <p:nvSpPr>
          <p:cNvPr id="8" name="Oval 21">
            <a:extLst>
              <a:ext uri="{FF2B5EF4-FFF2-40B4-BE49-F238E27FC236}">
                <a16:creationId xmlns:a16="http://schemas.microsoft.com/office/drawing/2014/main" id="{FB77CEF8-565A-92B1-CA9C-DC541B89BDAE}"/>
              </a:ext>
            </a:extLst>
          </p:cNvPr>
          <p:cNvSpPr/>
          <p:nvPr/>
        </p:nvSpPr>
        <p:spPr>
          <a:xfrm>
            <a:off x="7754510" y="1028727"/>
            <a:ext cx="1960743" cy="1960744"/>
          </a:xfrm>
          <a:prstGeom prst="ellipse">
            <a:avLst/>
          </a:prstGeom>
          <a:solidFill>
            <a:srgbClr val="2A31E3"/>
          </a:solidFill>
          <a:ln w="12700">
            <a:gradFill>
              <a:gsLst>
                <a:gs pos="0">
                  <a:schemeClr val="accent1"/>
                </a:gs>
                <a:gs pos="80000">
                  <a:schemeClr val="tx2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228600" rtlCol="0" anchor="ctr" anchorCtr="0"/>
          <a:lstStyle/>
          <a:p>
            <a:pPr algn="ctr">
              <a:lnSpc>
                <a:spcPts val="1700"/>
              </a:lnSpc>
            </a:pPr>
            <a:endParaRPr lang="en-US" sz="1100" b="1" spc="300" dirty="0">
              <a:latin typeface="Century Gothic" panose="020B0502020202020204" pitchFamily="34" charset="0"/>
            </a:endParaRPr>
          </a:p>
        </p:txBody>
      </p:sp>
      <p:sp>
        <p:nvSpPr>
          <p:cNvPr id="9" name="Oval 32">
            <a:extLst>
              <a:ext uri="{FF2B5EF4-FFF2-40B4-BE49-F238E27FC236}">
                <a16:creationId xmlns:a16="http://schemas.microsoft.com/office/drawing/2014/main" id="{F5E6A784-3DEF-9E1C-3A3E-637CE08B0AB8}"/>
              </a:ext>
            </a:extLst>
          </p:cNvPr>
          <p:cNvSpPr/>
          <p:nvPr/>
        </p:nvSpPr>
        <p:spPr>
          <a:xfrm>
            <a:off x="8630241" y="2190395"/>
            <a:ext cx="2576528" cy="2477210"/>
          </a:xfrm>
          <a:prstGeom prst="ellipse">
            <a:avLst/>
          </a:prstGeom>
          <a:gradFill flip="none" rotWithShape="1">
            <a:gsLst>
              <a:gs pos="31000">
                <a:schemeClr val="accent1"/>
              </a:gs>
              <a:gs pos="67000">
                <a:schemeClr val="tx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28600" rtlCol="0" anchor="t" anchorCtr="0"/>
          <a:lstStyle/>
          <a:p>
            <a:pPr algn="ctr"/>
            <a:endParaRPr lang="en-US"/>
          </a:p>
        </p:txBody>
      </p:sp>
      <p:sp>
        <p:nvSpPr>
          <p:cNvPr id="10" name="Oval 33">
            <a:extLst>
              <a:ext uri="{FF2B5EF4-FFF2-40B4-BE49-F238E27FC236}">
                <a16:creationId xmlns:a16="http://schemas.microsoft.com/office/drawing/2014/main" id="{744562D8-4D6C-6A9B-CEE0-60B664F53BA5}"/>
              </a:ext>
            </a:extLst>
          </p:cNvPr>
          <p:cNvSpPr/>
          <p:nvPr/>
        </p:nvSpPr>
        <p:spPr>
          <a:xfrm>
            <a:off x="8938133" y="2693529"/>
            <a:ext cx="1960743" cy="1960744"/>
          </a:xfrm>
          <a:prstGeom prst="ellipse">
            <a:avLst/>
          </a:prstGeom>
          <a:solidFill>
            <a:srgbClr val="2A31E3"/>
          </a:solidFill>
          <a:ln w="12700">
            <a:gradFill>
              <a:gsLst>
                <a:gs pos="0">
                  <a:schemeClr val="accent1"/>
                </a:gs>
                <a:gs pos="80000">
                  <a:schemeClr val="tx2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228600" rtlCol="0" anchor="ctr" anchorCtr="0"/>
          <a:lstStyle/>
          <a:p>
            <a:pPr algn="ctr">
              <a:lnSpc>
                <a:spcPts val="1700"/>
              </a:lnSpc>
            </a:pPr>
            <a:endParaRPr lang="en-US" sz="1100" b="1" spc="300" dirty="0">
              <a:latin typeface="Century Gothic" panose="020B0502020202020204" pitchFamily="34" charset="0"/>
            </a:endParaRPr>
          </a:p>
        </p:txBody>
      </p:sp>
      <p:sp>
        <p:nvSpPr>
          <p:cNvPr id="11" name="Oval 29">
            <a:extLst>
              <a:ext uri="{FF2B5EF4-FFF2-40B4-BE49-F238E27FC236}">
                <a16:creationId xmlns:a16="http://schemas.microsoft.com/office/drawing/2014/main" id="{E49E813C-25E3-4E13-C8F4-54EE4D039CA7}"/>
              </a:ext>
            </a:extLst>
          </p:cNvPr>
          <p:cNvSpPr/>
          <p:nvPr/>
        </p:nvSpPr>
        <p:spPr>
          <a:xfrm>
            <a:off x="7446618" y="3855197"/>
            <a:ext cx="2576528" cy="2477210"/>
          </a:xfrm>
          <a:prstGeom prst="ellipse">
            <a:avLst/>
          </a:prstGeom>
          <a:gradFill flip="none" rotWithShape="1">
            <a:gsLst>
              <a:gs pos="31000">
                <a:schemeClr val="accent1"/>
              </a:gs>
              <a:gs pos="67000">
                <a:schemeClr val="tx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28600" rtlCol="0" anchor="t" anchorCtr="0"/>
          <a:lstStyle/>
          <a:p>
            <a:pPr algn="ctr"/>
            <a:endParaRPr lang="en-US"/>
          </a:p>
        </p:txBody>
      </p:sp>
      <p:sp>
        <p:nvSpPr>
          <p:cNvPr id="12" name="Oval 30">
            <a:extLst>
              <a:ext uri="{FF2B5EF4-FFF2-40B4-BE49-F238E27FC236}">
                <a16:creationId xmlns:a16="http://schemas.microsoft.com/office/drawing/2014/main" id="{F2986D63-E460-1BEA-32EF-84D45E2E8238}"/>
              </a:ext>
            </a:extLst>
          </p:cNvPr>
          <p:cNvSpPr/>
          <p:nvPr/>
        </p:nvSpPr>
        <p:spPr>
          <a:xfrm>
            <a:off x="7754510" y="4358331"/>
            <a:ext cx="1960743" cy="1960744"/>
          </a:xfrm>
          <a:prstGeom prst="ellipse">
            <a:avLst/>
          </a:prstGeom>
          <a:solidFill>
            <a:srgbClr val="2A31E3"/>
          </a:solidFill>
          <a:ln w="12700">
            <a:gradFill>
              <a:gsLst>
                <a:gs pos="0">
                  <a:schemeClr val="accent1"/>
                </a:gs>
                <a:gs pos="80000">
                  <a:schemeClr val="tx2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228600" rtlCol="0" anchor="ctr" anchorCtr="0"/>
          <a:lstStyle/>
          <a:p>
            <a:pPr algn="ctr">
              <a:lnSpc>
                <a:spcPts val="1700"/>
              </a:lnSpc>
            </a:pPr>
            <a:endParaRPr lang="en-US" sz="1100" b="1" spc="300" dirty="0">
              <a:latin typeface="Century Gothic" panose="020B0502020202020204" pitchFamily="34" charset="0"/>
            </a:endParaRPr>
          </a:p>
        </p:txBody>
      </p:sp>
      <p:sp>
        <p:nvSpPr>
          <p:cNvPr id="13" name="Rectangle 18">
            <a:extLst>
              <a:ext uri="{FF2B5EF4-FFF2-40B4-BE49-F238E27FC236}">
                <a16:creationId xmlns:a16="http://schemas.microsoft.com/office/drawing/2014/main" id="{ABDBFE6B-4D23-71C4-4176-D4663E5C160B}"/>
              </a:ext>
            </a:extLst>
          </p:cNvPr>
          <p:cNvSpPr/>
          <p:nvPr/>
        </p:nvSpPr>
        <p:spPr>
          <a:xfrm>
            <a:off x="7986713" y="1554648"/>
            <a:ext cx="1496338" cy="908902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45720" rtlCol="0" anchor="ctr" anchorCtr="0"/>
          <a:lstStyle/>
          <a:p>
            <a:pPr algn="ctr">
              <a:lnSpc>
                <a:spcPts val="1700"/>
              </a:lnSpc>
            </a:pPr>
            <a:r>
              <a:rPr lang="de-DE" sz="1100" dirty="0"/>
              <a:t>STANDARTISIEREN</a:t>
            </a:r>
            <a:endParaRPr lang="en-US" sz="1100" b="1" spc="300" dirty="0">
              <a:latin typeface="Century Gothic" panose="020B0502020202020204" pitchFamily="34" charset="0"/>
            </a:endParaRPr>
          </a:p>
        </p:txBody>
      </p:sp>
      <p:sp>
        <p:nvSpPr>
          <p:cNvPr id="14" name="Rectangle 22">
            <a:extLst>
              <a:ext uri="{FF2B5EF4-FFF2-40B4-BE49-F238E27FC236}">
                <a16:creationId xmlns:a16="http://schemas.microsoft.com/office/drawing/2014/main" id="{F31EF1FD-8401-5F40-4731-6E93E0817100}"/>
              </a:ext>
            </a:extLst>
          </p:cNvPr>
          <p:cNvSpPr/>
          <p:nvPr/>
        </p:nvSpPr>
        <p:spPr>
          <a:xfrm>
            <a:off x="9020441" y="3219450"/>
            <a:ext cx="1796128" cy="908902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45720" rtlCol="0" anchor="ctr" anchorCtr="0"/>
          <a:lstStyle/>
          <a:p>
            <a:pPr algn="ctr">
              <a:lnSpc>
                <a:spcPts val="1700"/>
              </a:lnSpc>
            </a:pPr>
            <a:r>
              <a:rPr lang="de-DE" sz="1100" dirty="0"/>
              <a:t>SKALIEREN</a:t>
            </a:r>
            <a:endParaRPr lang="en-US" sz="1100" b="1" spc="300" dirty="0">
              <a:latin typeface="Century Gothic" panose="020B0502020202020204" pitchFamily="34" charset="0"/>
            </a:endParaRPr>
          </a:p>
        </p:txBody>
      </p:sp>
      <p:sp>
        <p:nvSpPr>
          <p:cNvPr id="15" name="Rectangle 23">
            <a:extLst>
              <a:ext uri="{FF2B5EF4-FFF2-40B4-BE49-F238E27FC236}">
                <a16:creationId xmlns:a16="http://schemas.microsoft.com/office/drawing/2014/main" id="{2BE94520-8978-66AC-6831-EDD59C154635}"/>
              </a:ext>
            </a:extLst>
          </p:cNvPr>
          <p:cNvSpPr/>
          <p:nvPr/>
        </p:nvSpPr>
        <p:spPr>
          <a:xfrm>
            <a:off x="7836818" y="4884252"/>
            <a:ext cx="1796128" cy="908902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45720" rtlCol="0" anchor="ctr" anchorCtr="0"/>
          <a:lstStyle/>
          <a:p>
            <a:pPr algn="ctr">
              <a:lnSpc>
                <a:spcPts val="1700"/>
              </a:lnSpc>
            </a:pPr>
            <a:r>
              <a:rPr lang="de-DE" sz="1100" dirty="0"/>
              <a:t>WIRKUNG</a:t>
            </a:r>
            <a:endParaRPr lang="en-US" sz="1100" b="1" spc="300" dirty="0">
              <a:latin typeface="Century Gothic" panose="020B0502020202020204" pitchFamily="34" charset="0"/>
            </a:endParaRPr>
          </a:p>
        </p:txBody>
      </p:sp>
      <p:sp>
        <p:nvSpPr>
          <p:cNvPr id="16" name="Rounded Rectangle 10">
            <a:extLst>
              <a:ext uri="{FF2B5EF4-FFF2-40B4-BE49-F238E27FC236}">
                <a16:creationId xmlns:a16="http://schemas.microsoft.com/office/drawing/2014/main" id="{1AF27399-9E06-FB14-4398-4189BB605BA7}"/>
              </a:ext>
            </a:extLst>
          </p:cNvPr>
          <p:cNvSpPr/>
          <p:nvPr/>
        </p:nvSpPr>
        <p:spPr>
          <a:xfrm>
            <a:off x="882261" y="1451728"/>
            <a:ext cx="6482050" cy="4880679"/>
          </a:xfrm>
          <a:prstGeom prst="roundRect">
            <a:avLst>
              <a:gd name="adj" fmla="val 8881"/>
            </a:avLst>
          </a:prstGeom>
          <a:solidFill>
            <a:schemeClr val="tx2">
              <a:lumMod val="10000"/>
              <a:lumOff val="90000"/>
              <a:alpha val="5000"/>
            </a:schemeClr>
          </a:solidFill>
          <a:ln w="25400">
            <a:solidFill>
              <a:schemeClr val="tx2">
                <a:lumMod val="10000"/>
                <a:lumOff val="90000"/>
                <a:alpha val="2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4320" tIns="182880" rIns="274320" bIns="182880" rtlCol="0" anchor="ctr"/>
          <a:lstStyle/>
          <a:p>
            <a:pPr>
              <a:lnSpc>
                <a:spcPct val="150000"/>
              </a:lnSpc>
            </a:pPr>
            <a:endParaRPr lang="en-US" sz="1100" kern="0" dirty="0">
              <a:solidFill>
                <a:srgbClr val="E2E2E2"/>
              </a:solidFill>
              <a:latin typeface="Century Gothic" panose="020B0502020202020204" pitchFamily="34" charset="0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" name="Oval 39">
            <a:extLst>
              <a:ext uri="{FF2B5EF4-FFF2-40B4-BE49-F238E27FC236}">
                <a16:creationId xmlns:a16="http://schemas.microsoft.com/office/drawing/2014/main" id="{A5CC623E-0358-E31B-3CD8-1143E0084A8A}"/>
              </a:ext>
            </a:extLst>
          </p:cNvPr>
          <p:cNvSpPr/>
          <p:nvPr/>
        </p:nvSpPr>
        <p:spPr>
          <a:xfrm>
            <a:off x="650566" y="4887208"/>
            <a:ext cx="390709" cy="390709"/>
          </a:xfrm>
          <a:prstGeom prst="ellipse">
            <a:avLst/>
          </a:prstGeom>
          <a:noFill/>
          <a:ln w="19050">
            <a:solidFill>
              <a:schemeClr val="accent1">
                <a:lumMod val="40000"/>
                <a:lumOff val="60000"/>
                <a:alpha val="75000"/>
              </a:schemeClr>
            </a:solidFill>
          </a:ln>
          <a:effectLst>
            <a:glow rad="571500">
              <a:schemeClr val="accent1">
                <a:alpha val="15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10">
            <a:extLst>
              <a:ext uri="{FF2B5EF4-FFF2-40B4-BE49-F238E27FC236}">
                <a16:creationId xmlns:a16="http://schemas.microsoft.com/office/drawing/2014/main" id="{07982180-1089-7546-6B7D-5581DA911BE5}"/>
              </a:ext>
            </a:extLst>
          </p:cNvPr>
          <p:cNvSpPr/>
          <p:nvPr/>
        </p:nvSpPr>
        <p:spPr>
          <a:xfrm>
            <a:off x="1056426" y="1576759"/>
            <a:ext cx="6157989" cy="4714399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4320" tIns="182880" rIns="274320" bIns="182880" rtlCol="0" anchor="ctr"/>
          <a:lstStyle/>
          <a:p>
            <a:r>
              <a:rPr lang="de-DE" sz="1300" b="1" dirty="0" err="1"/>
              <a:t>BitSight</a:t>
            </a:r>
            <a:r>
              <a:rPr lang="de-DE" sz="1300" dirty="0"/>
              <a:t> wird als Standard-Outside-in-Signal für Third-Party </a:t>
            </a:r>
            <a:r>
              <a:rPr lang="de-DE" sz="1300" dirty="0" err="1"/>
              <a:t>Cyber</a:t>
            </a:r>
            <a:r>
              <a:rPr lang="de-DE" sz="1300" dirty="0"/>
              <a:t> Risk etabliert, MHP stellt als operativer TPRM-</a:t>
            </a:r>
            <a:r>
              <a:rPr lang="de-DE" sz="1300" dirty="0" err="1"/>
              <a:t>Managed</a:t>
            </a:r>
            <a:r>
              <a:rPr lang="de-DE" sz="1300" dirty="0"/>
              <a:t> Service den stabilen Betrieb sicher. Damit bekommt VW nicht „noch ein Tool“, sondern eine skalierbare Entscheidungs- und Steuerungsfähigkeit für Lieferantenrisiken – konsistent, auditfähig und anschlussfähig an den Beschaffungsprozess.</a:t>
            </a:r>
          </a:p>
          <a:p>
            <a:endParaRPr lang="de-DE" sz="1300" dirty="0"/>
          </a:p>
          <a:p>
            <a:r>
              <a:rPr lang="de-DE" sz="1300" dirty="0"/>
              <a:t>Der Kern der Lösung folgt drei klaren Hebeln. </a:t>
            </a:r>
          </a:p>
          <a:p>
            <a:r>
              <a:rPr lang="de-DE" sz="1300" b="1" dirty="0"/>
              <a:t>Erstens Standardisieren</a:t>
            </a:r>
            <a:r>
              <a:rPr lang="de-DE" sz="1300" dirty="0"/>
              <a:t>: Wir definieren einheitliche Risikoschwellen, eine Supplier-Tier-Logik sowie klare </a:t>
            </a:r>
            <a:r>
              <a:rPr lang="de-DE" sz="1300" dirty="0" err="1"/>
              <a:t>Governance</a:t>
            </a:r>
            <a:r>
              <a:rPr lang="de-DE" sz="1300" dirty="0"/>
              <a:t> (Ownership, Eskalation, </a:t>
            </a:r>
            <a:r>
              <a:rPr lang="de-DE" sz="1300" dirty="0" err="1"/>
              <a:t>Evidence</a:t>
            </a:r>
            <a:r>
              <a:rPr lang="de-DE" sz="1300" dirty="0"/>
              <a:t>) und verankern das in den </a:t>
            </a:r>
            <a:r>
              <a:rPr lang="de-DE" sz="1300" dirty="0" err="1"/>
              <a:t>Procurement</a:t>
            </a:r>
            <a:r>
              <a:rPr lang="de-DE" sz="1300" dirty="0"/>
              <a:t>-Lifecycle (Sourcing, Onboarding, </a:t>
            </a:r>
            <a:r>
              <a:rPr lang="de-DE" sz="1300" dirty="0" err="1"/>
              <a:t>Renewal</a:t>
            </a:r>
            <a:r>
              <a:rPr lang="de-DE" sz="1300" dirty="0"/>
              <a:t>). </a:t>
            </a:r>
            <a:r>
              <a:rPr lang="de-DE" sz="1300" b="1" dirty="0"/>
              <a:t>Zweitens Skalieren: </a:t>
            </a:r>
            <a:r>
              <a:rPr lang="de-DE" sz="1300" dirty="0"/>
              <a:t>Statt punktueller Assessments setzen wir auf </a:t>
            </a:r>
            <a:r>
              <a:rPr lang="de-DE" sz="1300" dirty="0" err="1"/>
              <a:t>Continuous</a:t>
            </a:r>
            <a:r>
              <a:rPr lang="de-DE" sz="1300" dirty="0"/>
              <a:t> Monitoring mit Portfolio-Transparenz (Trends/Peer-Vergleich) und stellen über den </a:t>
            </a:r>
            <a:r>
              <a:rPr lang="de-DE" sz="1300" dirty="0" err="1"/>
              <a:t>Managed</a:t>
            </a:r>
            <a:r>
              <a:rPr lang="de-DE" sz="1300" dirty="0"/>
              <a:t> Service Kapazität „on </a:t>
            </a:r>
            <a:r>
              <a:rPr lang="de-DE" sz="1300" dirty="0" err="1"/>
              <a:t>demand</a:t>
            </a:r>
            <a:r>
              <a:rPr lang="de-DE" sz="1300" dirty="0"/>
              <a:t>“ bereit, damit das Modell auch bei großen Lieferantenlandschaften nicht am operativen Aufwand scheitert.</a:t>
            </a:r>
          </a:p>
          <a:p>
            <a:r>
              <a:rPr lang="de-DE" sz="1300" b="1" dirty="0"/>
              <a:t>Drittens liefern wir Wirkung</a:t>
            </a:r>
            <a:r>
              <a:rPr lang="de-DE" sz="1300" dirty="0"/>
              <a:t>, die für VW unmittelbar entscheidungsrelevant ist: schnellere, belastbare </a:t>
            </a:r>
            <a:r>
              <a:rPr lang="de-DE" sz="1300" dirty="0" err="1"/>
              <a:t>Stop</a:t>
            </a:r>
            <a:r>
              <a:rPr lang="de-DE" sz="1300" dirty="0"/>
              <a:t>/Go- und </a:t>
            </a:r>
            <a:r>
              <a:rPr lang="de-DE" sz="1300" dirty="0" err="1"/>
              <a:t>Renewal</a:t>
            </a:r>
            <a:r>
              <a:rPr lang="de-DE" sz="1300" dirty="0"/>
              <a:t>-Entscheidungen, Risikoreduktion durch strukturierten Outreach und Mitigation sowie messbare KPIs für Vorstand, Revision und Regulatorik. </a:t>
            </a:r>
          </a:p>
          <a:p>
            <a:endParaRPr lang="de-DE" sz="1300" dirty="0"/>
          </a:p>
          <a:p>
            <a:r>
              <a:rPr lang="de-DE" sz="1300" dirty="0"/>
              <a:t>Kurz: Wir machen aus Cyber-Signalen ein belastbares Steuerungsinstrument für die Beschaffung – mit klarer Verantwortlichkeit, reproduzierbaren Entscheidungen und transparenter Wirkung über das gesamte Lieferantenportfolio hinweg.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el 1">
            <a:extLst>
              <a:ext uri="{FF2B5EF4-FFF2-40B4-BE49-F238E27FC236}">
                <a16:creationId xmlns:a16="http://schemas.microsoft.com/office/drawing/2014/main" id="{E47BB0D6-F4B0-0235-A3CE-1BBA71B13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WARUM DAS THEMA PRIORITÄT HAT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92F0E69-1185-39DE-7CBB-1B6A415BE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7F064-BD39-4FE4-B9A2-7344DA85858F}" type="datetime1">
              <a:rPr lang="de-DE" smtClean="0"/>
              <a:pPr/>
              <a:t>29.01.2026</a:t>
            </a:fld>
            <a:endParaRPr lang="en-CA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F502336-5936-95C1-660D-500496B35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EAD0B-53D4-4473-89A4-0C9AC72707FF}" type="slidenum">
              <a:rPr lang="en-CA" smtClean="0"/>
              <a:pPr/>
              <a:t>4</a:t>
            </a:fld>
            <a:endParaRPr lang="en-CA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DAABCC29-972C-12CD-27C5-696A7CC3BD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2" name="Rectangle: Rounded Corners 100">
            <a:extLst>
              <a:ext uri="{FF2B5EF4-FFF2-40B4-BE49-F238E27FC236}">
                <a16:creationId xmlns:a16="http://schemas.microsoft.com/office/drawing/2014/main" id="{C5EEB9FE-C816-A188-ED97-64563F14472C}"/>
              </a:ext>
            </a:extLst>
          </p:cNvPr>
          <p:cNvSpPr/>
          <p:nvPr/>
        </p:nvSpPr>
        <p:spPr>
          <a:xfrm>
            <a:off x="1243965" y="1301012"/>
            <a:ext cx="2726799" cy="3225800"/>
          </a:xfrm>
          <a:prstGeom prst="roundRect">
            <a:avLst>
              <a:gd name="adj" fmla="val 7827"/>
            </a:avLst>
          </a:prstGeom>
          <a:solidFill>
            <a:srgbClr val="000099"/>
          </a:solidFill>
          <a:ln w="381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cxnSp>
        <p:nvCxnSpPr>
          <p:cNvPr id="13" name="Straight Connector 2">
            <a:extLst>
              <a:ext uri="{FF2B5EF4-FFF2-40B4-BE49-F238E27FC236}">
                <a16:creationId xmlns:a16="http://schemas.microsoft.com/office/drawing/2014/main" id="{986C3111-EECA-79F0-6919-1DF6629BDD94}"/>
              </a:ext>
            </a:extLst>
          </p:cNvPr>
          <p:cNvCxnSpPr>
            <a:cxnSpLocks/>
          </p:cNvCxnSpPr>
          <p:nvPr/>
        </p:nvCxnSpPr>
        <p:spPr>
          <a:xfrm flipV="1">
            <a:off x="901656" y="1319103"/>
            <a:ext cx="458262" cy="444902"/>
          </a:xfrm>
          <a:prstGeom prst="line">
            <a:avLst/>
          </a:prstGeom>
          <a:ln w="38100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36">
            <a:extLst>
              <a:ext uri="{FF2B5EF4-FFF2-40B4-BE49-F238E27FC236}">
                <a16:creationId xmlns:a16="http://schemas.microsoft.com/office/drawing/2014/main" id="{E6B63106-6EB1-9957-83A8-A9FDEE948B04}"/>
              </a:ext>
            </a:extLst>
          </p:cNvPr>
          <p:cNvCxnSpPr>
            <a:cxnSpLocks/>
          </p:cNvCxnSpPr>
          <p:nvPr/>
        </p:nvCxnSpPr>
        <p:spPr>
          <a:xfrm flipV="1">
            <a:off x="3504546" y="1370726"/>
            <a:ext cx="392502" cy="420525"/>
          </a:xfrm>
          <a:prstGeom prst="line">
            <a:avLst/>
          </a:prstGeom>
          <a:ln w="38100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: Rounded Corners 100">
            <a:extLst>
              <a:ext uri="{FF2B5EF4-FFF2-40B4-BE49-F238E27FC236}">
                <a16:creationId xmlns:a16="http://schemas.microsoft.com/office/drawing/2014/main" id="{00211919-6B5E-BB93-990D-0AEE8ED8A26A}"/>
              </a:ext>
            </a:extLst>
          </p:cNvPr>
          <p:cNvSpPr/>
          <p:nvPr/>
        </p:nvSpPr>
        <p:spPr>
          <a:xfrm>
            <a:off x="816365" y="1724894"/>
            <a:ext cx="2726799" cy="3225800"/>
          </a:xfrm>
          <a:prstGeom prst="roundRect">
            <a:avLst>
              <a:gd name="adj" fmla="val 7827"/>
            </a:avLst>
          </a:prstGeom>
          <a:solidFill>
            <a:srgbClr val="000099"/>
          </a:solidFill>
          <a:ln w="381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18" name="Rectangle 8">
            <a:extLst>
              <a:ext uri="{FF2B5EF4-FFF2-40B4-BE49-F238E27FC236}">
                <a16:creationId xmlns:a16="http://schemas.microsoft.com/office/drawing/2014/main" id="{707D5256-3EA6-6514-D245-10A271CBB8B2}"/>
              </a:ext>
            </a:extLst>
          </p:cNvPr>
          <p:cNvSpPr/>
          <p:nvPr/>
        </p:nvSpPr>
        <p:spPr>
          <a:xfrm>
            <a:off x="964341" y="2013835"/>
            <a:ext cx="2577747" cy="497073"/>
          </a:xfrm>
          <a:prstGeom prst="rect">
            <a:avLst/>
          </a:prstGeom>
          <a:solidFill>
            <a:srgbClr val="056AFF"/>
          </a:solidFill>
          <a:ln w="38100">
            <a:solidFill>
              <a:schemeClr val="bg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kern="0">
              <a:solidFill>
                <a:srgbClr val="080808"/>
              </a:solidFill>
              <a:latin typeface="Open Sans"/>
            </a:endParaRPr>
          </a:p>
        </p:txBody>
      </p:sp>
      <p:grpSp>
        <p:nvGrpSpPr>
          <p:cNvPr id="21" name="Group 103">
            <a:extLst>
              <a:ext uri="{FF2B5EF4-FFF2-40B4-BE49-F238E27FC236}">
                <a16:creationId xmlns:a16="http://schemas.microsoft.com/office/drawing/2014/main" id="{04F7AD94-08A9-E15F-5753-5D0957AA63A7}"/>
              </a:ext>
            </a:extLst>
          </p:cNvPr>
          <p:cNvGrpSpPr/>
          <p:nvPr/>
        </p:nvGrpSpPr>
        <p:grpSpPr>
          <a:xfrm>
            <a:off x="1005228" y="2092912"/>
            <a:ext cx="2303079" cy="2235099"/>
            <a:chOff x="1392795" y="2468649"/>
            <a:chExt cx="2303079" cy="2235099"/>
          </a:xfrm>
        </p:grpSpPr>
        <p:sp>
          <p:nvSpPr>
            <p:cNvPr id="22" name="TextBox 59">
              <a:extLst>
                <a:ext uri="{FF2B5EF4-FFF2-40B4-BE49-F238E27FC236}">
                  <a16:creationId xmlns:a16="http://schemas.microsoft.com/office/drawing/2014/main" id="{740A6172-661A-6DAA-B046-6526B77099F4}"/>
                </a:ext>
              </a:extLst>
            </p:cNvPr>
            <p:cNvSpPr txBox="1"/>
            <p:nvPr/>
          </p:nvSpPr>
          <p:spPr>
            <a:xfrm>
              <a:off x="1392795" y="2965580"/>
              <a:ext cx="2303079" cy="1738168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171450" indent="-171450">
                <a:lnSpc>
                  <a:spcPct val="150000"/>
                </a:lnSpc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de-DE" sz="1100" dirty="0">
                  <a:solidFill>
                    <a:schemeClr val="bg1"/>
                  </a:solidFill>
                  <a:ea typeface="Calibri" pitchFamily="34" charset="-122"/>
                  <a:cs typeface="Calibri" pitchFamily="34" charset="-120"/>
                </a:rPr>
                <a:t>• VW steuert Lieferantenrisiken über </a:t>
              </a:r>
              <a:r>
                <a:rPr lang="de-DE" sz="1100" dirty="0" err="1">
                  <a:solidFill>
                    <a:schemeClr val="bg1"/>
                  </a:solidFill>
                  <a:ea typeface="Calibri" pitchFamily="34" charset="-122"/>
                  <a:cs typeface="Calibri" pitchFamily="34" charset="-120"/>
                </a:rPr>
                <a:t>Procurement</a:t>
              </a:r>
              <a:r>
                <a:rPr lang="de-DE" sz="1100" dirty="0">
                  <a:solidFill>
                    <a:schemeClr val="bg1"/>
                  </a:solidFill>
                  <a:ea typeface="Calibri" pitchFamily="34" charset="-122"/>
                  <a:cs typeface="Calibri" pitchFamily="34" charset="-120"/>
                </a:rPr>
                <a:t> &amp; </a:t>
              </a:r>
              <a:r>
                <a:rPr lang="de-DE" sz="1100" dirty="0" err="1">
                  <a:solidFill>
                    <a:schemeClr val="bg1"/>
                  </a:solidFill>
                  <a:ea typeface="Calibri" pitchFamily="34" charset="-122"/>
                  <a:cs typeface="Calibri" pitchFamily="34" charset="-120"/>
                </a:rPr>
                <a:t>InfoSec</a:t>
              </a:r>
              <a:endParaRPr lang="de-DE" sz="11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endParaRPr>
            </a:p>
            <a:p>
              <a:pPr marL="171450" indent="-171450">
                <a:lnSpc>
                  <a:spcPct val="150000"/>
                </a:lnSpc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de-DE" sz="1100" dirty="0">
                  <a:solidFill>
                    <a:schemeClr val="bg1"/>
                  </a:solidFill>
                  <a:ea typeface="Calibri" pitchFamily="34" charset="-122"/>
                  <a:cs typeface="Calibri" pitchFamily="34" charset="-120"/>
                </a:rPr>
                <a:t>• Ziel: einheitliche Standards, skalierbar über Portfolio</a:t>
              </a:r>
            </a:p>
            <a:p>
              <a:pPr marL="171450" indent="-171450">
                <a:lnSpc>
                  <a:spcPct val="150000"/>
                </a:lnSpc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de-DE" sz="1100" dirty="0">
                  <a:solidFill>
                    <a:schemeClr val="bg1"/>
                  </a:solidFill>
                  <a:ea typeface="Calibri" pitchFamily="34" charset="-122"/>
                  <a:cs typeface="Calibri" pitchFamily="34" charset="-120"/>
                </a:rPr>
                <a:t>• Porsche-Betrieb liefert Blaupause</a:t>
              </a:r>
            </a:p>
          </p:txBody>
        </p:sp>
        <p:sp>
          <p:nvSpPr>
            <p:cNvPr id="23" name="TextBox 60">
              <a:extLst>
                <a:ext uri="{FF2B5EF4-FFF2-40B4-BE49-F238E27FC236}">
                  <a16:creationId xmlns:a16="http://schemas.microsoft.com/office/drawing/2014/main" id="{C0DAF080-C18D-4ADA-8BA1-7F1CA004CD16}"/>
                </a:ext>
              </a:extLst>
            </p:cNvPr>
            <p:cNvSpPr txBox="1"/>
            <p:nvPr/>
          </p:nvSpPr>
          <p:spPr>
            <a:xfrm>
              <a:off x="1552016" y="2468649"/>
              <a:ext cx="190719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solidFill>
                    <a:schemeClr val="bg1"/>
                  </a:solidFill>
                  <a:latin typeface="Century Gothic" panose="020B0502020202020204" pitchFamily="34" charset="0"/>
                </a:rPr>
                <a:t>SITUATION</a:t>
              </a:r>
              <a:endParaRPr lang="en-ID" sz="1600" b="1" dirty="0">
                <a:solidFill>
                  <a:schemeClr val="bg1"/>
                </a:solidFill>
                <a:latin typeface="Century Gothic" panose="020B0502020202020204" pitchFamily="34" charset="0"/>
              </a:endParaRPr>
            </a:p>
          </p:txBody>
        </p:sp>
      </p:grpSp>
      <p:sp>
        <p:nvSpPr>
          <p:cNvPr id="32" name="Freeform 6">
            <a:extLst>
              <a:ext uri="{FF2B5EF4-FFF2-40B4-BE49-F238E27FC236}">
                <a16:creationId xmlns:a16="http://schemas.microsoft.com/office/drawing/2014/main" id="{C8764C35-21F7-BB7F-64F2-CE7AD827E759}"/>
              </a:ext>
            </a:extLst>
          </p:cNvPr>
          <p:cNvSpPr>
            <a:spLocks/>
          </p:cNvSpPr>
          <p:nvPr/>
        </p:nvSpPr>
        <p:spPr bwMode="auto">
          <a:xfrm>
            <a:off x="722674" y="1927719"/>
            <a:ext cx="293732" cy="655307"/>
          </a:xfrm>
          <a:prstGeom prst="roundRect">
            <a:avLst>
              <a:gd name="adj" fmla="val 50000"/>
            </a:avLst>
          </a:prstGeom>
          <a:solidFill>
            <a:srgbClr val="056AFF"/>
          </a:solidFill>
          <a:ln w="38100">
            <a:solidFill>
              <a:schemeClr val="bg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80808"/>
              </a:solidFill>
              <a:effectLst/>
              <a:uLnTx/>
              <a:uFillTx/>
              <a:latin typeface="Open Sans"/>
            </a:endParaRPr>
          </a:p>
        </p:txBody>
      </p:sp>
      <p:sp>
        <p:nvSpPr>
          <p:cNvPr id="33" name="Text 4">
            <a:extLst>
              <a:ext uri="{FF2B5EF4-FFF2-40B4-BE49-F238E27FC236}">
                <a16:creationId xmlns:a16="http://schemas.microsoft.com/office/drawing/2014/main" id="{42E742FD-9692-98D8-BDE0-D1DEE4701F32}"/>
              </a:ext>
            </a:extLst>
          </p:cNvPr>
          <p:cNvSpPr/>
          <p:nvPr/>
        </p:nvSpPr>
        <p:spPr>
          <a:xfrm>
            <a:off x="407987" y="5188386"/>
            <a:ext cx="10972800" cy="713057"/>
          </a:xfrm>
          <a:prstGeom prst="roundRect">
            <a:avLst/>
          </a:prstGeom>
          <a:solidFill>
            <a:srgbClr val="102A4E"/>
          </a:solidFill>
          <a:ln>
            <a:solidFill>
              <a:srgbClr val="102A4E"/>
            </a:solidFill>
          </a:ln>
          <a:effectLst>
            <a:outerShdw blurRad="25400" dist="12700" dir="2700000" algn="bl" rotWithShape="0">
              <a:srgbClr val="000000">
                <a:alpha val="15000"/>
              </a:srgbClr>
            </a:outerShdw>
          </a:effectLst>
        </p:spPr>
        <p:txBody>
          <a:bodyPr wrap="square" lIns="3175" tIns="3175" rIns="3175" bIns="3175" rtlCol="0" anchor="t"/>
          <a:lstStyle/>
          <a:p>
            <a:pPr marL="0" indent="0" algn="ctr">
              <a:buNone/>
            </a:pPr>
            <a:r>
              <a:rPr lang="de-DE" b="1" noProof="0" dirty="0">
                <a:solidFill>
                  <a:srgbClr val="FFFFFF"/>
                </a:solidFill>
                <a:latin typeface="+mj-lt"/>
              </a:rPr>
              <a:t>Unsere Antwort </a:t>
            </a:r>
            <a:r>
              <a:rPr lang="de-DE" b="1" noProof="0" dirty="0" err="1">
                <a:solidFill>
                  <a:srgbClr val="FFFFFF"/>
                </a:solidFill>
                <a:latin typeface="+mj-lt"/>
              </a:rPr>
              <a:t>BitSight</a:t>
            </a:r>
            <a:r>
              <a:rPr lang="de-DE" b="1" noProof="0" dirty="0">
                <a:solidFill>
                  <a:srgbClr val="FFFFFF"/>
                </a:solidFill>
                <a:latin typeface="+mj-lt"/>
              </a:rPr>
              <a:t> als Datenbasis + MHP als </a:t>
            </a:r>
            <a:r>
              <a:rPr lang="de-DE" b="1" noProof="0" dirty="0" err="1">
                <a:solidFill>
                  <a:srgbClr val="FFFFFF"/>
                </a:solidFill>
                <a:latin typeface="+mj-lt"/>
              </a:rPr>
              <a:t>Managed</a:t>
            </a:r>
            <a:r>
              <a:rPr lang="de-DE" b="1" noProof="0" dirty="0">
                <a:solidFill>
                  <a:srgbClr val="FFFFFF"/>
                </a:solidFill>
                <a:latin typeface="+mj-lt"/>
              </a:rPr>
              <a:t> Service: standardisierte Ratings, Monitoring, Mitigation und Reporting – integriert in Beschaffungsentscheidungen.</a:t>
            </a:r>
          </a:p>
        </p:txBody>
      </p:sp>
      <p:cxnSp>
        <p:nvCxnSpPr>
          <p:cNvPr id="35" name="Straight Connector 40">
            <a:extLst>
              <a:ext uri="{FF2B5EF4-FFF2-40B4-BE49-F238E27FC236}">
                <a16:creationId xmlns:a16="http://schemas.microsoft.com/office/drawing/2014/main" id="{874469BC-D026-4843-409B-BA805542D6C3}"/>
              </a:ext>
            </a:extLst>
          </p:cNvPr>
          <p:cNvCxnSpPr>
            <a:cxnSpLocks/>
          </p:cNvCxnSpPr>
          <p:nvPr/>
        </p:nvCxnSpPr>
        <p:spPr>
          <a:xfrm flipV="1">
            <a:off x="3497171" y="4444725"/>
            <a:ext cx="427407" cy="420295"/>
          </a:xfrm>
          <a:prstGeom prst="line">
            <a:avLst/>
          </a:prstGeom>
          <a:ln w="38100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: Rounded Corners 100">
            <a:extLst>
              <a:ext uri="{FF2B5EF4-FFF2-40B4-BE49-F238E27FC236}">
                <a16:creationId xmlns:a16="http://schemas.microsoft.com/office/drawing/2014/main" id="{9EDE0224-3AAC-1B1B-F134-E4A94951CADF}"/>
              </a:ext>
            </a:extLst>
          </p:cNvPr>
          <p:cNvSpPr/>
          <p:nvPr/>
        </p:nvSpPr>
        <p:spPr>
          <a:xfrm>
            <a:off x="4915414" y="1319103"/>
            <a:ext cx="2726799" cy="3225800"/>
          </a:xfrm>
          <a:prstGeom prst="roundRect">
            <a:avLst>
              <a:gd name="adj" fmla="val 7827"/>
            </a:avLst>
          </a:prstGeom>
          <a:solidFill>
            <a:srgbClr val="000099"/>
          </a:solidFill>
          <a:ln w="381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cxnSp>
        <p:nvCxnSpPr>
          <p:cNvPr id="38" name="Straight Connector 43">
            <a:extLst>
              <a:ext uri="{FF2B5EF4-FFF2-40B4-BE49-F238E27FC236}">
                <a16:creationId xmlns:a16="http://schemas.microsoft.com/office/drawing/2014/main" id="{0D38DAED-B9DF-E44C-5856-2E3F3D172407}"/>
              </a:ext>
            </a:extLst>
          </p:cNvPr>
          <p:cNvCxnSpPr>
            <a:cxnSpLocks/>
          </p:cNvCxnSpPr>
          <p:nvPr/>
        </p:nvCxnSpPr>
        <p:spPr>
          <a:xfrm flipV="1">
            <a:off x="7175995" y="1388817"/>
            <a:ext cx="392502" cy="420525"/>
          </a:xfrm>
          <a:prstGeom prst="line">
            <a:avLst/>
          </a:prstGeom>
          <a:ln w="38100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: Rounded Corners 107">
            <a:extLst>
              <a:ext uri="{FF2B5EF4-FFF2-40B4-BE49-F238E27FC236}">
                <a16:creationId xmlns:a16="http://schemas.microsoft.com/office/drawing/2014/main" id="{D08DAD3C-723F-CC33-A3E5-641B409FE06C}"/>
              </a:ext>
            </a:extLst>
          </p:cNvPr>
          <p:cNvSpPr/>
          <p:nvPr/>
        </p:nvSpPr>
        <p:spPr>
          <a:xfrm>
            <a:off x="4503233" y="1724894"/>
            <a:ext cx="2726799" cy="3225800"/>
          </a:xfrm>
          <a:prstGeom prst="roundRect">
            <a:avLst>
              <a:gd name="adj" fmla="val 7827"/>
            </a:avLst>
          </a:prstGeom>
          <a:solidFill>
            <a:srgbClr val="000099"/>
          </a:solidFill>
          <a:ln w="381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40" name="Rectangle 50">
            <a:extLst>
              <a:ext uri="{FF2B5EF4-FFF2-40B4-BE49-F238E27FC236}">
                <a16:creationId xmlns:a16="http://schemas.microsoft.com/office/drawing/2014/main" id="{4586080F-C8AC-0AA9-8AF9-9727940353F0}"/>
              </a:ext>
            </a:extLst>
          </p:cNvPr>
          <p:cNvSpPr/>
          <p:nvPr/>
        </p:nvSpPr>
        <p:spPr>
          <a:xfrm>
            <a:off x="4635986" y="2019972"/>
            <a:ext cx="2594046" cy="497073"/>
          </a:xfrm>
          <a:prstGeom prst="rect">
            <a:avLst/>
          </a:prstGeom>
          <a:solidFill>
            <a:srgbClr val="056AFF"/>
          </a:solidFill>
          <a:ln w="38100">
            <a:solidFill>
              <a:schemeClr val="bg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kern="0">
              <a:solidFill>
                <a:srgbClr val="080808"/>
              </a:solidFill>
              <a:latin typeface="Open Sans"/>
            </a:endParaRPr>
          </a:p>
        </p:txBody>
      </p:sp>
      <p:grpSp>
        <p:nvGrpSpPr>
          <p:cNvPr id="41" name="Group 108">
            <a:extLst>
              <a:ext uri="{FF2B5EF4-FFF2-40B4-BE49-F238E27FC236}">
                <a16:creationId xmlns:a16="http://schemas.microsoft.com/office/drawing/2014/main" id="{368789C0-AAA7-1694-26D4-833F37AA0B73}"/>
              </a:ext>
            </a:extLst>
          </p:cNvPr>
          <p:cNvGrpSpPr/>
          <p:nvPr/>
        </p:nvGrpSpPr>
        <p:grpSpPr>
          <a:xfrm>
            <a:off x="4657370" y="2092770"/>
            <a:ext cx="2526667" cy="2258923"/>
            <a:chOff x="1358070" y="2468507"/>
            <a:chExt cx="2349072" cy="2258923"/>
          </a:xfrm>
        </p:grpSpPr>
        <p:sp>
          <p:nvSpPr>
            <p:cNvPr id="42" name="TextBox 110">
              <a:extLst>
                <a:ext uri="{FF2B5EF4-FFF2-40B4-BE49-F238E27FC236}">
                  <a16:creationId xmlns:a16="http://schemas.microsoft.com/office/drawing/2014/main" id="{7518EF93-5F42-A86F-BBF9-21C0080B3931}"/>
                </a:ext>
              </a:extLst>
            </p:cNvPr>
            <p:cNvSpPr txBox="1"/>
            <p:nvPr/>
          </p:nvSpPr>
          <p:spPr>
            <a:xfrm>
              <a:off x="1358070" y="2989262"/>
              <a:ext cx="2349072" cy="1738168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171450" indent="-171450">
                <a:lnSpc>
                  <a:spcPct val="150000"/>
                </a:lnSpc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de-DE" sz="1100" dirty="0">
                  <a:solidFill>
                    <a:schemeClr val="bg1"/>
                  </a:solidFill>
                  <a:ea typeface="Calibri" pitchFamily="34" charset="-122"/>
                  <a:cs typeface="Calibri" pitchFamily="34" charset="-120"/>
                </a:rPr>
                <a:t>• Assessments sind zu langsam und nicht kontinuierlich</a:t>
              </a:r>
            </a:p>
            <a:p>
              <a:pPr marL="171450" indent="-171450">
                <a:lnSpc>
                  <a:spcPct val="150000"/>
                </a:lnSpc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de-DE" sz="1100" dirty="0">
                  <a:solidFill>
                    <a:schemeClr val="bg1"/>
                  </a:solidFill>
                  <a:ea typeface="Calibri" pitchFamily="34" charset="-122"/>
                  <a:cs typeface="Calibri" pitchFamily="34" charset="-120"/>
                </a:rPr>
                <a:t>• Lieferanten-Events werden spät erkannt</a:t>
              </a:r>
            </a:p>
            <a:p>
              <a:pPr marL="171450" indent="-171450">
                <a:lnSpc>
                  <a:spcPct val="150000"/>
                </a:lnSpc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de-DE" sz="1100" dirty="0">
                  <a:solidFill>
                    <a:schemeClr val="bg1"/>
                  </a:solidFill>
                  <a:ea typeface="Calibri" pitchFamily="34" charset="-122"/>
                  <a:cs typeface="Calibri" pitchFamily="34" charset="-120"/>
                </a:rPr>
                <a:t>• Hoher manueller Aufwand (Follow-</a:t>
              </a:r>
              <a:r>
                <a:rPr lang="de-DE" sz="1100" dirty="0" err="1">
                  <a:solidFill>
                    <a:schemeClr val="bg1"/>
                  </a:solidFill>
                  <a:ea typeface="Calibri" pitchFamily="34" charset="-122"/>
                  <a:cs typeface="Calibri" pitchFamily="34" charset="-120"/>
                </a:rPr>
                <a:t>up</a:t>
              </a:r>
              <a:r>
                <a:rPr lang="de-DE" sz="1100" dirty="0">
                  <a:solidFill>
                    <a:schemeClr val="bg1"/>
                  </a:solidFill>
                  <a:ea typeface="Calibri" pitchFamily="34" charset="-122"/>
                  <a:cs typeface="Calibri" pitchFamily="34" charset="-120"/>
                </a:rPr>
                <a:t>, Tracking)</a:t>
              </a:r>
            </a:p>
          </p:txBody>
        </p:sp>
        <p:sp>
          <p:nvSpPr>
            <p:cNvPr id="43" name="TextBox 111">
              <a:extLst>
                <a:ext uri="{FF2B5EF4-FFF2-40B4-BE49-F238E27FC236}">
                  <a16:creationId xmlns:a16="http://schemas.microsoft.com/office/drawing/2014/main" id="{41C8B782-ABFF-3994-4F2C-39F0E44EA416}"/>
                </a:ext>
              </a:extLst>
            </p:cNvPr>
            <p:cNvSpPr txBox="1"/>
            <p:nvPr/>
          </p:nvSpPr>
          <p:spPr>
            <a:xfrm>
              <a:off x="1552016" y="2468507"/>
              <a:ext cx="190719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entury Gothic" panose="020B0502020202020204" pitchFamily="34" charset="0"/>
                  <a:ea typeface="+mn-ea"/>
                  <a:cs typeface="+mn-cs"/>
                </a:rPr>
                <a:t>COMPLICATION</a:t>
              </a:r>
              <a:endParaRPr kumimoji="0" lang="en-ID" sz="1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44" name="Freeform 6">
            <a:extLst>
              <a:ext uri="{FF2B5EF4-FFF2-40B4-BE49-F238E27FC236}">
                <a16:creationId xmlns:a16="http://schemas.microsoft.com/office/drawing/2014/main" id="{DE24FAF6-D9FA-1004-56F8-A847E5598FD5}"/>
              </a:ext>
            </a:extLst>
          </p:cNvPr>
          <p:cNvSpPr>
            <a:spLocks/>
          </p:cNvSpPr>
          <p:nvPr/>
        </p:nvSpPr>
        <p:spPr bwMode="auto">
          <a:xfrm>
            <a:off x="4398501" y="1938371"/>
            <a:ext cx="293732" cy="655307"/>
          </a:xfrm>
          <a:prstGeom prst="roundRect">
            <a:avLst>
              <a:gd name="adj" fmla="val 50000"/>
            </a:avLst>
          </a:prstGeom>
          <a:solidFill>
            <a:srgbClr val="056AFF"/>
          </a:solidFill>
          <a:ln w="38100">
            <a:solidFill>
              <a:schemeClr val="bg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80808"/>
              </a:solidFill>
              <a:effectLst/>
              <a:uLnTx/>
              <a:uFillTx/>
              <a:latin typeface="Open Sans"/>
            </a:endParaRP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FDAB661D-8DEA-EC4D-72FC-A777AD615E82}"/>
              </a:ext>
            </a:extLst>
          </p:cNvPr>
          <p:cNvCxnSpPr>
            <a:cxnSpLocks/>
          </p:cNvCxnSpPr>
          <p:nvPr/>
        </p:nvCxnSpPr>
        <p:spPr>
          <a:xfrm flipV="1">
            <a:off x="7162654" y="4493055"/>
            <a:ext cx="405843" cy="396572"/>
          </a:xfrm>
          <a:prstGeom prst="line">
            <a:avLst/>
          </a:prstGeom>
          <a:ln w="38100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2">
            <a:extLst>
              <a:ext uri="{FF2B5EF4-FFF2-40B4-BE49-F238E27FC236}">
                <a16:creationId xmlns:a16="http://schemas.microsoft.com/office/drawing/2014/main" id="{EEE2E474-D34E-95EA-6797-D5D7E9EAC3CC}"/>
              </a:ext>
            </a:extLst>
          </p:cNvPr>
          <p:cNvCxnSpPr>
            <a:cxnSpLocks/>
          </p:cNvCxnSpPr>
          <p:nvPr/>
        </p:nvCxnSpPr>
        <p:spPr>
          <a:xfrm flipV="1">
            <a:off x="4573105" y="1370726"/>
            <a:ext cx="416048" cy="411370"/>
          </a:xfrm>
          <a:prstGeom prst="line">
            <a:avLst/>
          </a:prstGeom>
          <a:ln w="38100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tangle: Rounded Corners 100">
            <a:extLst>
              <a:ext uri="{FF2B5EF4-FFF2-40B4-BE49-F238E27FC236}">
                <a16:creationId xmlns:a16="http://schemas.microsoft.com/office/drawing/2014/main" id="{0ED962DA-81BA-8567-FC70-616B8CEC7BC3}"/>
              </a:ext>
            </a:extLst>
          </p:cNvPr>
          <p:cNvSpPr/>
          <p:nvPr/>
        </p:nvSpPr>
        <p:spPr>
          <a:xfrm>
            <a:off x="8603358" y="1337194"/>
            <a:ext cx="2726799" cy="3225800"/>
          </a:xfrm>
          <a:prstGeom prst="roundRect">
            <a:avLst>
              <a:gd name="adj" fmla="val 7827"/>
            </a:avLst>
          </a:prstGeom>
          <a:solidFill>
            <a:srgbClr val="000099"/>
          </a:solidFill>
          <a:ln w="381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48" name="Rectangle: Rounded Corners 113">
            <a:extLst>
              <a:ext uri="{FF2B5EF4-FFF2-40B4-BE49-F238E27FC236}">
                <a16:creationId xmlns:a16="http://schemas.microsoft.com/office/drawing/2014/main" id="{71BCA03D-A283-F993-0258-E844473F9BB0}"/>
              </a:ext>
            </a:extLst>
          </p:cNvPr>
          <p:cNvSpPr/>
          <p:nvPr/>
        </p:nvSpPr>
        <p:spPr>
          <a:xfrm>
            <a:off x="8190101" y="1724894"/>
            <a:ext cx="2726799" cy="3225800"/>
          </a:xfrm>
          <a:prstGeom prst="roundRect">
            <a:avLst>
              <a:gd name="adj" fmla="val 7827"/>
            </a:avLst>
          </a:prstGeom>
          <a:solidFill>
            <a:srgbClr val="000099"/>
          </a:solidFill>
          <a:ln w="381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49" name="Rectangle 50">
            <a:extLst>
              <a:ext uri="{FF2B5EF4-FFF2-40B4-BE49-F238E27FC236}">
                <a16:creationId xmlns:a16="http://schemas.microsoft.com/office/drawing/2014/main" id="{D8E705CD-62D6-4B93-60DB-28CF2A71E1C9}"/>
              </a:ext>
            </a:extLst>
          </p:cNvPr>
          <p:cNvSpPr/>
          <p:nvPr/>
        </p:nvSpPr>
        <p:spPr>
          <a:xfrm>
            <a:off x="8310044" y="2046643"/>
            <a:ext cx="2606856" cy="497073"/>
          </a:xfrm>
          <a:prstGeom prst="rect">
            <a:avLst/>
          </a:prstGeom>
          <a:solidFill>
            <a:srgbClr val="056AFF"/>
          </a:solidFill>
          <a:ln w="38100">
            <a:solidFill>
              <a:schemeClr val="bg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kern="0">
              <a:solidFill>
                <a:srgbClr val="080808"/>
              </a:solidFill>
              <a:latin typeface="Open Sans"/>
            </a:endParaRPr>
          </a:p>
        </p:txBody>
      </p:sp>
      <p:cxnSp>
        <p:nvCxnSpPr>
          <p:cNvPr id="50" name="Straight Connector 47">
            <a:extLst>
              <a:ext uri="{FF2B5EF4-FFF2-40B4-BE49-F238E27FC236}">
                <a16:creationId xmlns:a16="http://schemas.microsoft.com/office/drawing/2014/main" id="{74EDE582-00B1-32DF-5678-2332A88AF506}"/>
              </a:ext>
            </a:extLst>
          </p:cNvPr>
          <p:cNvCxnSpPr>
            <a:cxnSpLocks/>
          </p:cNvCxnSpPr>
          <p:nvPr/>
        </p:nvCxnSpPr>
        <p:spPr>
          <a:xfrm flipV="1">
            <a:off x="10882695" y="1406908"/>
            <a:ext cx="373746" cy="402434"/>
          </a:xfrm>
          <a:prstGeom prst="line">
            <a:avLst/>
          </a:prstGeom>
          <a:ln w="38100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48">
            <a:extLst>
              <a:ext uri="{FF2B5EF4-FFF2-40B4-BE49-F238E27FC236}">
                <a16:creationId xmlns:a16="http://schemas.microsoft.com/office/drawing/2014/main" id="{EE4BC758-8969-EAE0-3F05-0A9AE7DAC3F1}"/>
              </a:ext>
            </a:extLst>
          </p:cNvPr>
          <p:cNvCxnSpPr>
            <a:cxnSpLocks/>
          </p:cNvCxnSpPr>
          <p:nvPr/>
        </p:nvCxnSpPr>
        <p:spPr>
          <a:xfrm flipV="1">
            <a:off x="10844989" y="4444725"/>
            <a:ext cx="458262" cy="444902"/>
          </a:xfrm>
          <a:prstGeom prst="line">
            <a:avLst/>
          </a:prstGeom>
          <a:ln w="38100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2" name="Group 114">
            <a:extLst>
              <a:ext uri="{FF2B5EF4-FFF2-40B4-BE49-F238E27FC236}">
                <a16:creationId xmlns:a16="http://schemas.microsoft.com/office/drawing/2014/main" id="{1FC2E647-7339-9F72-56F8-9D33F6D52AC2}"/>
              </a:ext>
            </a:extLst>
          </p:cNvPr>
          <p:cNvGrpSpPr/>
          <p:nvPr/>
        </p:nvGrpSpPr>
        <p:grpSpPr>
          <a:xfrm>
            <a:off x="8318320" y="2092770"/>
            <a:ext cx="2726798" cy="2277553"/>
            <a:chOff x="1332152" y="2468507"/>
            <a:chExt cx="2127057" cy="2277553"/>
          </a:xfrm>
        </p:grpSpPr>
        <p:sp>
          <p:nvSpPr>
            <p:cNvPr id="53" name="TextBox 117">
              <a:extLst>
                <a:ext uri="{FF2B5EF4-FFF2-40B4-BE49-F238E27FC236}">
                  <a16:creationId xmlns:a16="http://schemas.microsoft.com/office/drawing/2014/main" id="{C6064E8E-0129-396A-19A2-0C7BD349189B}"/>
                </a:ext>
              </a:extLst>
            </p:cNvPr>
            <p:cNvSpPr txBox="1"/>
            <p:nvPr/>
          </p:nvSpPr>
          <p:spPr>
            <a:xfrm>
              <a:off x="1552016" y="2468507"/>
              <a:ext cx="190719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entury Gothic" panose="020B0502020202020204" pitchFamily="34" charset="0"/>
                  <a:ea typeface="+mn-ea"/>
                  <a:cs typeface="+mn-cs"/>
                </a:rPr>
                <a:t>QUESTION</a:t>
              </a:r>
              <a:endParaRPr kumimoji="0" lang="en-ID" sz="1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TextBox 116">
              <a:extLst>
                <a:ext uri="{FF2B5EF4-FFF2-40B4-BE49-F238E27FC236}">
                  <a16:creationId xmlns:a16="http://schemas.microsoft.com/office/drawing/2014/main" id="{CECA955F-5893-5E15-5920-DC181E33BB38}"/>
                </a:ext>
              </a:extLst>
            </p:cNvPr>
            <p:cNvSpPr txBox="1"/>
            <p:nvPr/>
          </p:nvSpPr>
          <p:spPr>
            <a:xfrm>
              <a:off x="1332152" y="3007892"/>
              <a:ext cx="2066414" cy="1738168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171450" indent="-171450">
                <a:lnSpc>
                  <a:spcPct val="150000"/>
                </a:lnSpc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de-DE" sz="1100" dirty="0">
                  <a:solidFill>
                    <a:schemeClr val="bg1"/>
                  </a:solidFill>
                  <a:ea typeface="Calibri" pitchFamily="34" charset="-122"/>
                  <a:cs typeface="Calibri" pitchFamily="34" charset="-120"/>
                </a:rPr>
                <a:t>• Wie standardisieren wir „Outside-in“-Risikointelligenz?</a:t>
              </a:r>
            </a:p>
            <a:p>
              <a:pPr marL="171450" indent="-171450">
                <a:lnSpc>
                  <a:spcPct val="150000"/>
                </a:lnSpc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de-DE" sz="1100" dirty="0">
                  <a:solidFill>
                    <a:schemeClr val="bg1"/>
                  </a:solidFill>
                  <a:ea typeface="Calibri" pitchFamily="34" charset="-122"/>
                  <a:cs typeface="Calibri" pitchFamily="34" charset="-120"/>
                </a:rPr>
                <a:t>• Wie integrieren wir das in Sourcing &amp; </a:t>
              </a:r>
              <a:r>
                <a:rPr lang="de-DE" sz="1100" dirty="0" err="1">
                  <a:solidFill>
                    <a:schemeClr val="bg1"/>
                  </a:solidFill>
                  <a:ea typeface="Calibri" pitchFamily="34" charset="-122"/>
                  <a:cs typeface="Calibri" pitchFamily="34" charset="-120"/>
                </a:rPr>
                <a:t>Renewal</a:t>
              </a:r>
              <a:r>
                <a:rPr lang="de-DE" sz="1100" dirty="0">
                  <a:solidFill>
                    <a:schemeClr val="bg1"/>
                  </a:solidFill>
                  <a:ea typeface="Calibri" pitchFamily="34" charset="-122"/>
                  <a:cs typeface="Calibri" pitchFamily="34" charset="-120"/>
                </a:rPr>
                <a:t>?</a:t>
              </a:r>
            </a:p>
            <a:p>
              <a:pPr marL="171450" indent="-171450">
                <a:lnSpc>
                  <a:spcPct val="150000"/>
                </a:lnSpc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de-DE" sz="1100" dirty="0">
                  <a:solidFill>
                    <a:schemeClr val="bg1"/>
                  </a:solidFill>
                  <a:ea typeface="Calibri" pitchFamily="34" charset="-122"/>
                  <a:cs typeface="Calibri" pitchFamily="34" charset="-120"/>
                </a:rPr>
                <a:t>• Wie sichern wir stabilen Betrieb &amp; Reporting?</a:t>
              </a:r>
            </a:p>
          </p:txBody>
        </p:sp>
      </p:grpSp>
      <p:sp>
        <p:nvSpPr>
          <p:cNvPr id="55" name="Freeform 6">
            <a:extLst>
              <a:ext uri="{FF2B5EF4-FFF2-40B4-BE49-F238E27FC236}">
                <a16:creationId xmlns:a16="http://schemas.microsoft.com/office/drawing/2014/main" id="{90421EBB-1B76-8987-546D-48A1A0902B60}"/>
              </a:ext>
            </a:extLst>
          </p:cNvPr>
          <p:cNvSpPr>
            <a:spLocks/>
          </p:cNvSpPr>
          <p:nvPr/>
        </p:nvSpPr>
        <p:spPr bwMode="auto">
          <a:xfrm>
            <a:off x="8071193" y="1977058"/>
            <a:ext cx="293732" cy="655307"/>
          </a:xfrm>
          <a:prstGeom prst="roundRect">
            <a:avLst>
              <a:gd name="adj" fmla="val 50000"/>
            </a:avLst>
          </a:prstGeom>
          <a:solidFill>
            <a:srgbClr val="056AFF"/>
          </a:solidFill>
          <a:ln w="38100">
            <a:solidFill>
              <a:schemeClr val="bg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80808"/>
              </a:solidFill>
              <a:effectLst/>
              <a:uLnTx/>
              <a:uFillTx/>
              <a:latin typeface="Open Sans"/>
            </a:endParaRPr>
          </a:p>
        </p:txBody>
      </p:sp>
      <p:cxnSp>
        <p:nvCxnSpPr>
          <p:cNvPr id="56" name="Straight Connector 46">
            <a:extLst>
              <a:ext uri="{FF2B5EF4-FFF2-40B4-BE49-F238E27FC236}">
                <a16:creationId xmlns:a16="http://schemas.microsoft.com/office/drawing/2014/main" id="{55025603-E688-5973-2347-ABEBC3D92943}"/>
              </a:ext>
            </a:extLst>
          </p:cNvPr>
          <p:cNvCxnSpPr>
            <a:cxnSpLocks/>
          </p:cNvCxnSpPr>
          <p:nvPr/>
        </p:nvCxnSpPr>
        <p:spPr>
          <a:xfrm flipV="1">
            <a:off x="8276321" y="1355285"/>
            <a:ext cx="442990" cy="408720"/>
          </a:xfrm>
          <a:prstGeom prst="line">
            <a:avLst/>
          </a:prstGeom>
          <a:ln w="38100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94360" y="320040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94360" y="960120"/>
            <a:ext cx="1097280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4" name="Image 0" descr="/mnt/data/user-pW8y2nIaQzoaPw040ojIliKw/c2c872aee6b543b28446e0695bc40c83/mnt/data/assets/bits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228600"/>
            <a:ext cx="320040" cy="320040"/>
          </a:xfrm>
          <a:prstGeom prst="rect">
            <a:avLst/>
          </a:prstGeom>
        </p:spPr>
      </p:pic>
      <p:pic>
        <p:nvPicPr>
          <p:cNvPr id="5" name="Image 1" descr="/mnt/data/user-pW8y2nIaQzoaPw040ojIliKw/c2c872aee6b543b28446e0695bc40c83/mnt/data/assets/mh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67744" y="201168"/>
            <a:ext cx="347472" cy="347472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94360" y="1234440"/>
            <a:ext cx="109728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7" name="Text 3"/>
          <p:cNvSpPr/>
          <p:nvPr/>
        </p:nvSpPr>
        <p:spPr>
          <a:xfrm>
            <a:off x="822960" y="14173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aktuelle Third-Party Cyber Risk Management ist zu langsam und nicht skalierbar für große Lieferantenportfolios.</a:t>
            </a:r>
            <a:endParaRPr lang="en-US" sz="1800" dirty="0"/>
          </a:p>
        </p:txBody>
      </p:sp>
      <p:sp>
        <p:nvSpPr>
          <p:cNvPr id="8" name="Shape 4"/>
          <p:cNvSpPr/>
          <p:nvPr/>
        </p:nvSpPr>
        <p:spPr>
          <a:xfrm>
            <a:off x="594360" y="2514600"/>
            <a:ext cx="3520440" cy="3794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9" name="Text 5"/>
          <p:cNvSpPr/>
          <p:nvPr/>
        </p:nvSpPr>
        <p:spPr>
          <a:xfrm>
            <a:off x="822960" y="2679192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Spots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822960" y="3044952"/>
            <a:ext cx="306324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Keine kontinuierliche „Outside-in“-Sicht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Events werden spät erkannt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Risikoaggregation fehlt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389120" y="2514600"/>
            <a:ext cx="3520440" cy="3794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2" name="Text 8"/>
          <p:cNvSpPr/>
          <p:nvPr/>
        </p:nvSpPr>
        <p:spPr>
          <a:xfrm>
            <a:off x="4617720" y="2679192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Operative Last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617720" y="3044952"/>
            <a:ext cx="306324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Triage &amp; Nachverfolgung manuell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Lieferantenkommunikation ad hoc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Evidenz/Reporting zeitintensiv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183880" y="2514600"/>
            <a:ext cx="3383280" cy="3794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5" name="Text 11"/>
          <p:cNvSpPr/>
          <p:nvPr/>
        </p:nvSpPr>
        <p:spPr>
          <a:xfrm>
            <a:off x="8412480" y="267919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Entscheidungsdefizit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8412480" y="3044952"/>
            <a:ext cx="292608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Sourcing/Renewal ohne klare Schwellen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Intransparente Exemptions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Uneinheitliche Gremienentscheidungen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594360" y="6565392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Einordnung: Gartner betont funktionsübergreifendes Lifecycle-TPRM inkl. Continuous Monitoring &amp; Workflows.</a:t>
            </a:r>
            <a:endParaRPr lang="en-US" sz="900" dirty="0"/>
          </a:p>
        </p:txBody>
      </p:sp>
      <p:sp>
        <p:nvSpPr>
          <p:cNvPr id="18" name="Text 5">
            <a:extLst>
              <a:ext uri="{FF2B5EF4-FFF2-40B4-BE49-F238E27FC236}">
                <a16:creationId xmlns:a16="http://schemas.microsoft.com/office/drawing/2014/main" id="{A5AA4488-BB50-D07E-6DCB-4FE4121BE249}"/>
              </a:ext>
            </a:extLst>
          </p:cNvPr>
          <p:cNvSpPr/>
          <p:nvPr/>
        </p:nvSpPr>
        <p:spPr>
          <a:xfrm>
            <a:off x="754380" y="4389120"/>
            <a:ext cx="10271455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Punktuelle Fragebögen/Audits liefern keine kontinuierliche „Outside‑in“-Sicht und erkennen Drift zu spät.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Ohne objektive Schwellenwerte entstehen uneinheitliche Stop/Go‑Entscheidungen und lange Ausnahmeschleifen.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Operativer Aufwand (Triage, Lieferantenkommunikation, Tracking) bindet knappe Ressourcen in Beschaffung &amp; InfoSec.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94360" y="320040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messbare Wirkung für VW Procurement &amp; Risk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94360" y="960120"/>
            <a:ext cx="1097280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4" name="Image 0" descr="/mnt/data/user-pW8y2nIaQzoaPw040ojIliKw/c2c872aee6b543b28446e0695bc40c83/mnt/data/assets/bits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228600"/>
            <a:ext cx="320040" cy="320040"/>
          </a:xfrm>
          <a:prstGeom prst="rect">
            <a:avLst/>
          </a:prstGeom>
        </p:spPr>
      </p:pic>
      <p:pic>
        <p:nvPicPr>
          <p:cNvPr id="5" name="Image 1" descr="/mnt/data/user-pW8y2nIaQzoaPw040ojIliKw/c2c872aee6b543b28446e0695bc40c83/mnt/data/assets/mh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67744" y="201168"/>
            <a:ext cx="347472" cy="347472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94360" y="1234440"/>
            <a:ext cx="10972800" cy="86868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3"/>
          <p:cNvSpPr/>
          <p:nvPr/>
        </p:nvSpPr>
        <p:spPr>
          <a:xfrm>
            <a:off x="822960" y="1389888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Modell verbessert Risiko-Transparenz, Entscheidungsgeschwindigkeit und Effizienz – und liefert Board-geeignete Steuerungskennzahlen.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594360" y="2331720"/>
            <a:ext cx="3520440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9" name="Text 5"/>
          <p:cNvSpPr/>
          <p:nvPr/>
        </p:nvSpPr>
        <p:spPr>
          <a:xfrm>
            <a:off x="822960" y="2496312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Risikoreduktion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822960" y="2862072"/>
            <a:ext cx="306324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Hotspot-Lieferanten früh erkennen (Events/Trends)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Gezielte Mitigation senkt Third-Party Breach Risiko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Portfolio-Transparenz statt Einzelfall-Panik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389120" y="2331720"/>
            <a:ext cx="3520440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2" name="Text 8"/>
          <p:cNvSpPr/>
          <p:nvPr/>
        </p:nvSpPr>
        <p:spPr>
          <a:xfrm>
            <a:off x="4617720" y="2496312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in Procurement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617720" y="2862072"/>
            <a:ext cx="306324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Schnelleres Onboarding (BitSight: -70% Zeit)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Klare Schwellen für Stop/Go &amp; Renewal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Weniger „Ping-Pong“ zwischen Funktionen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183880" y="2331720"/>
            <a:ext cx="3383280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5" name="Text 11"/>
          <p:cNvSpPr/>
          <p:nvPr/>
        </p:nvSpPr>
        <p:spPr>
          <a:xfrm>
            <a:off x="8412480" y="249631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Effizienz &amp; Governance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8412480" y="2862072"/>
            <a:ext cx="292608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Weniger Compliance-Reporting Aufwand (-40%)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Revisionssichere Evidence &amp; KPIs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Managed Service reduziert internen Betriebsaufwand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594360" y="6565392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Quelle: BitSight Company Overview 2025 (Impact-Kennzahlen); Operating Model aus Porsche-Referenz.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94360" y="320040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Risiken &amp; Mitigation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94360" y="960120"/>
            <a:ext cx="1097280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4" name="Image 0" descr="/mnt/data/user-pW8y2nIaQzoaPw040ojIliKw/c2c872aee6b543b28446e0695bc40c83/mnt/data/assets/bits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228600"/>
            <a:ext cx="320040" cy="320040"/>
          </a:xfrm>
          <a:prstGeom prst="rect">
            <a:avLst/>
          </a:prstGeom>
        </p:spPr>
      </p:pic>
      <p:pic>
        <p:nvPicPr>
          <p:cNvPr id="5" name="Image 1" descr="/mnt/data/user-pW8y2nIaQzoaPw040ojIliKw/c2c872aee6b543b28446e0695bc40c83/mnt/data/assets/mh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67744" y="201168"/>
            <a:ext cx="347472" cy="347472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94360" y="1234440"/>
            <a:ext cx="10972800" cy="86868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3"/>
          <p:cNvSpPr/>
          <p:nvPr/>
        </p:nvSpPr>
        <p:spPr>
          <a:xfrm>
            <a:off x="822960" y="1389888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 reduzieren typische Implementierungsrisiken durch eingebettete Validierung, klare Schwellen und Procurement-Hebel.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594360" y="2331720"/>
            <a:ext cx="3520440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9" name="Text 5"/>
          <p:cNvSpPr/>
          <p:nvPr/>
        </p:nvSpPr>
        <p:spPr>
          <a:xfrm>
            <a:off x="822960" y="2496312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Risiko: Daten/Attribution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822960" y="2862072"/>
            <a:ext cx="306324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False Positives/Zuordnung zu Suppliern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Unklare Scope-Grenzen (Subsidiaries)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Noise durch unpriorisierte Alerts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389120" y="2331720"/>
            <a:ext cx="3520440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2" name="Text 8"/>
          <p:cNvSpPr/>
          <p:nvPr/>
        </p:nvSpPr>
        <p:spPr>
          <a:xfrm>
            <a:off x="4617720" y="2496312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Prozessdesign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617720" y="2862072"/>
            <a:ext cx="306324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Validierungspfad vor Supplier-Outreach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Schwellenwerte &amp; Tiers (MECE) festlegen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Event-basiertes Triage-Modell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183880" y="2331720"/>
            <a:ext cx="3383280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5" name="Text 11"/>
          <p:cNvSpPr/>
          <p:nvPr/>
        </p:nvSpPr>
        <p:spPr>
          <a:xfrm>
            <a:off x="8412480" y="249631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Steuerungshebel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8412480" y="2862072"/>
            <a:ext cx="292608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Kommunikations-Templates + SLA-Fristen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Contract-Levers (Renewal/Exemptions)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Gremienrhythmus + Exception-Register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594360" y="6565392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 basiert auf Porsche-Betriebsmodell und BitSight TPRM Best Practices.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94360" y="320040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to Action: Entscheidung &amp; Vorgehen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94360" y="960120"/>
            <a:ext cx="1097280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4" name="Image 0" descr="/mnt/data/user-pW8y2nIaQzoaPw040ojIliKw/c2c872aee6b543b28446e0695bc40c83/mnt/data/assets/bits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228600"/>
            <a:ext cx="320040" cy="320040"/>
          </a:xfrm>
          <a:prstGeom prst="rect">
            <a:avLst/>
          </a:prstGeom>
        </p:spPr>
      </p:pic>
      <p:pic>
        <p:nvPicPr>
          <p:cNvPr id="5" name="Image 1" descr="/mnt/data/user-pW8y2nIaQzoaPw040ojIliKw/c2c872aee6b543b28446e0695bc40c83/mnt/data/assets/mh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67744" y="201168"/>
            <a:ext cx="347472" cy="347472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94360" y="1234440"/>
            <a:ext cx="10972800" cy="86868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3"/>
          <p:cNvSpPr/>
          <p:nvPr/>
        </p:nvSpPr>
        <p:spPr>
          <a:xfrm>
            <a:off x="822960" y="1389888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Vorstandsentscheid: Budgetfreigabe 2026 für BitSight + MHP Service bei VW – Start mit 90-Tage-Pilot (kritische Lieferanten) und anschließender Skalierung.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594360" y="2331720"/>
            <a:ext cx="3520440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9" name="Text 5"/>
          <p:cNvSpPr/>
          <p:nvPr/>
        </p:nvSpPr>
        <p:spPr>
          <a:xfrm>
            <a:off x="822960" y="2496312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Entscheidungen heute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822960" y="2862072"/>
            <a:ext cx="306324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Scope: kritische Lieferanten / Tiers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Schwellenwerte &amp; Eskalationslogik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Budgetrahmen &amp; Owner (Procurement)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389120" y="2331720"/>
            <a:ext cx="3520440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2" name="Text 8"/>
          <p:cNvSpPr/>
          <p:nvPr/>
        </p:nvSpPr>
        <p:spPr>
          <a:xfrm>
            <a:off x="4617720" y="2496312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Tage Pilot (VW)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617720" y="2862072"/>
            <a:ext cx="306324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Setup: Scope, Supplier-Liste, Templates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Betrieb: Monitoring, Triage, Outreach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Review: KPI/KRI, Lessons Learned, Rollout-Plan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183880" y="2331720"/>
            <a:ext cx="3383280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5" name="Text 11"/>
          <p:cNvSpPr/>
          <p:nvPr/>
        </p:nvSpPr>
        <p:spPr>
          <a:xfrm>
            <a:off x="8412480" y="249631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 &amp; Betrieb 2026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8412480" y="2862072"/>
            <a:ext cx="292608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Scale: Portfolio-Ausweitung + Standardprozesse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Integration: Sourcing/Renewal + Reporting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Kontinuierliche Verbesserung (Quarterly)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594360" y="6217920"/>
            <a:ext cx="1097280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Text 14"/>
          <p:cNvSpPr/>
          <p:nvPr/>
        </p:nvSpPr>
        <p:spPr>
          <a:xfrm>
            <a:off x="822960" y="6281928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Referenz: Porsche Betrieb 2026 mit externer Leistung ~239.800€ (Scope: &gt;4.500 Geschäftspartner). VW Budget final abhängig von Partnerzahl &amp; Scope.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594360" y="6565392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Quellen: MHP Angebot „Cyber Rating &amp; Monitoring 2026“ (Porsche AG); BitSight Company Overview 2025.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1409</Words>
  <Application>Microsoft Office PowerPoint</Application>
  <PresentationFormat>Breitbild</PresentationFormat>
  <Paragraphs>211</Paragraphs>
  <Slides>10</Slides>
  <Notes>10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Norman Weferling</cp:lastModifiedBy>
  <cp:revision>1</cp:revision>
  <dcterms:created xsi:type="dcterms:W3CDTF">2026-01-19T13:03:46Z</dcterms:created>
  <dcterms:modified xsi:type="dcterms:W3CDTF">2026-01-20T10:32:45Z</dcterms:modified>
</cp:coreProperties>
</file>